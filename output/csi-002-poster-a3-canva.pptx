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0e380a91943e0" /><Relationship Type="http://schemas.openxmlformats.org/officeDocument/2006/relationships/extended-properties" Target="/docProps/app.xml" Id="R407c8d426e4341e4" /><Relationship Type="http://schemas.openxmlformats.org/officeDocument/2006/relationships/officeDocument" Target="/ppt/presentation.xml" Id="Ra731afaf8588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a830e5c99469e"/>
  </p:sldMasterIdLst>
  <p:notesMasterIdLst>
    <p:notesMasterId xmlns:r="http://schemas.openxmlformats.org/officeDocument/2006/relationships" r:id="Rf9067c626ee74700"/>
  </p:notesMasterIdLst>
  <p:sldIdLst>
    <p:sldId xmlns:r="http://schemas.openxmlformats.org/officeDocument/2006/relationships" id="256" r:id="R2c818a080a8a4f5b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2ec529fa34e38" /><Relationship Type="http://schemas.openxmlformats.org/officeDocument/2006/relationships/slideMaster" Target="/ppt/slideMasters/slideMaster1.xml" Id="R8eea830e5c99469e" /><Relationship Type="http://schemas.openxmlformats.org/officeDocument/2006/relationships/notesMaster" Target="/ppt/notesMasters/notesMaster1.xml" Id="Rf9067c626ee74700" /><Relationship Type="http://schemas.openxmlformats.org/officeDocument/2006/relationships/presProps" Target="/ppt/presProps.xml" Id="R2d3f35165a874629" /><Relationship Type="http://schemas.openxmlformats.org/officeDocument/2006/relationships/tableStyles" Target="/ppt/tableStyles.xml" Id="R5326c2923ef645a7" /><Relationship Type="http://schemas.openxmlformats.org/officeDocument/2006/relationships/slide" Target="/ppt/slides/slide1.xml" Id="R2c818a080a8a4f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b813cadc2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e866a95d48406b" /><Relationship Type="http://schemas.openxmlformats.org/officeDocument/2006/relationships/notesMaster" Target="/ppt/notesMasters/notesMaster1.xml" Id="R914cade3c73d47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6c1cfa82c46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1021068a4b4734" /><Relationship Type="http://schemas.openxmlformats.org/officeDocument/2006/relationships/slideLayout" Target="/ppt/slideLayouts/slideLayout1.xml" Id="R22e3f808d83a49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3f808d83a49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f4a24cb7445bf" /><Relationship Type="http://schemas.openxmlformats.org/officeDocument/2006/relationships/image" Target="/ppt/media/image.png" Id="R2b589c4967ea42fc" /><Relationship Type="http://schemas.openxmlformats.org/officeDocument/2006/relationships/image" Target="/ppt/media/image2.png" Id="R62c06bb130e74c15" /><Relationship Type="http://schemas.openxmlformats.org/officeDocument/2006/relationships/image" Target="/ppt/media/image3.png" Id="R69acc3487da84058" /><Relationship Type="http://schemas.openxmlformats.org/officeDocument/2006/relationships/notesSlide" Target="/ppt/notesSlides/notesSlide1.xml" Id="Rb0658b33d92e45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89c4967ea42fc"/>
          <a:stretch xmlns:a="http://schemas.openxmlformats.org/drawingml/2006/main"/>
        </p:blipFill>
        <p:spPr>
          <a:xfrm xmlns:a="http://schemas.openxmlformats.org/drawingml/2006/main">
            <a:off x="6934200" y="1333334"/>
            <a:ext cx="2762250" cy="1581482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06bb130e74c15"/>
          <a:stretch xmlns:a="http://schemas.openxmlformats.org/drawingml/2006/main"/>
        </p:blipFill>
        <p:spPr>
          <a:xfrm xmlns:a="http://schemas.openxmlformats.org/drawingml/2006/main">
            <a:off x="940336" y="323850"/>
            <a:ext cx="2196027" cy="1257300"/>
          </a:xfrm>
          <a:prstGeom xmlns:a="http://schemas.openxmlformats.org/drawingml/2006/main" prst="rect">
            <a:avLst/>
          </a:prstGeom>
        </p:spPr>
      </p:pic>
      <p:sp>
        <p:nvSpPr>
          <p:cNvPr id="3" name="header">
            <a:extLst xmlns:a="http://schemas.openxmlformats.org/drawingml/2006/main">
              <a:ext uri="{FF2B5EF4-FFF2-40B4-BE49-F238E27FC236}">
                <a16:creationId xmlns:a16="http://schemas.microsoft.com/office/drawing/2014/main" id="{8FF15A50-7FDB-4DF4-9EB9-412475C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F2041"/>
                </a:solidFill>
              </a:defRPr>
            </a:pPr>
            <a:r>
              <a:rPr sz="1275" b="1">
                <a:solidFill>
                  <a:srgbClr val="1F2041"/>
                </a:solidFill>
              </a:rPr>
              <a:t>CLASSROOM SCIENCE INVESTIGATION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635BB0C2-0350-4E27-932F-5269CFD0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041"/>
                </a:solidFill>
              </a:defRPr>
            </a:pPr>
            <a:r>
              <a:rPr sz="3150" b="1">
                <a:solidFill>
                  <a:srgbClr val="1F2041"/>
                </a:solidFill>
              </a:rPr>
              <a:t>CSI-002 | Classroom Science Investigation</a:t>
            </a:r>
          </a:p>
        </p:txBody>
      </p:sp>
      <p:sp>
        <p:nvSpPr>
          <p:cNvPr id="5" name="case-title">
            <a:extLst xmlns:a="http://schemas.openxmlformats.org/drawingml/2006/main">
              <a:ext uri="{FF2B5EF4-FFF2-40B4-BE49-F238E27FC236}">
                <a16:creationId xmlns:a16="http://schemas.microsoft.com/office/drawing/2014/main" id="{E840117B-027E-4802-A7F0-188EF271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2041"/>
                </a:solidFill>
              </a:defRPr>
            </a:pPr>
            <a:r>
              <a:rPr sz="2625" b="1">
                <a:solidFill>
                  <a:srgbClr val="1F2041"/>
                </a:solidFill>
              </a:rPr>
              <a:t>Il frammento meteoritico sostituito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A1A2E302-070B-49E7-84FD-C77C0B9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E63"/>
                </a:solidFill>
              </a:defRPr>
            </a:pPr>
            <a:r>
              <a:rPr sz="1500" b="0">
                <a:solidFill>
                  <a:srgbClr val="2B2E63"/>
                </a:solidFill>
              </a:rPr>
              <a:t>Un reperto catalogato come ferro meteoritico sembra essere stato scambiato. La squadra deve capire se l'oggetto X e' davvero compatibile con l'archivio del museo.</a:t>
            </a:r>
          </a:p>
        </p:txBody>
      </p:sp>
      <p:sp>
        <p:nvSpPr>
          <p:cNvPr id="7" name="card-Scenario">
            <a:extLst xmlns:a="http://schemas.openxmlformats.org/drawingml/2006/main">
              <a:ext uri="{FF2B5EF4-FFF2-40B4-BE49-F238E27FC236}">
                <a16:creationId xmlns:a16="http://schemas.microsoft.com/office/drawing/2014/main" id="{B0183901-6557-41A3-9C60-0E10D38A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286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8" name="band-Scenario">
            <a:extLst xmlns:a="http://schemas.openxmlformats.org/drawingml/2006/main">
              <a:ext uri="{FF2B5EF4-FFF2-40B4-BE49-F238E27FC236}">
                <a16:creationId xmlns:a16="http://schemas.microsoft.com/office/drawing/2014/main" id="{A25781C2-3B00-46B0-8A3B-01A0B10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28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9" name="title-Scenario">
            <a:extLst xmlns:a="http://schemas.openxmlformats.org/drawingml/2006/main">
              <a:ext uri="{FF2B5EF4-FFF2-40B4-BE49-F238E27FC236}">
                <a16:creationId xmlns:a16="http://schemas.microsoft.com/office/drawing/2014/main" id="{EB746854-0D9C-49DA-8C4B-FD1F0F4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041"/>
                </a:solidFill>
              </a:defRPr>
            </a:pPr>
            <a:r>
              <a:rPr sz="1875" b="1">
                <a:solidFill>
                  <a:srgbClr val="1F2041"/>
                </a:solidFill>
              </a:rPr>
              <a:t>Scenario</a:t>
            </a:r>
          </a:p>
        </p:txBody>
      </p:sp>
      <p:sp>
        <p:nvSpPr>
          <p:cNvPr id="10" name="body-Scenario">
            <a:extLst xmlns:a="http://schemas.openxmlformats.org/drawingml/2006/main">
              <a:ext uri="{FF2B5EF4-FFF2-40B4-BE49-F238E27FC236}">
                <a16:creationId xmlns:a16="http://schemas.microsoft.com/office/drawing/2014/main" id="{BC63BE6B-7479-4662-B377-C27F1F4E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379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E63"/>
                </a:solidFill>
              </a:defRPr>
            </a:pPr>
            <a:r>
              <a:rPr sz="1275" b="0">
                <a:solidFill>
                  <a:srgbClr val="2B2E63"/>
                </a:solidFill>
              </a:rPr>
              <a:t>Nella teca resta un solo oggetto sospetto: X. Il registro parla di un frammento di ferro meteoritico, ma la curatrice nota qualcosa di strano.</a:t>
            </a:r>
          </a:p>
        </p:txBody>
      </p:sp>
      <p:sp>
        <p:nvSpPr>
          <p:cNvPr id="11" name="card-Pista scientifica">
            <a:extLst xmlns:a="http://schemas.openxmlformats.org/drawingml/2006/main">
              <a:ext uri="{FF2B5EF4-FFF2-40B4-BE49-F238E27FC236}">
                <a16:creationId xmlns:a16="http://schemas.microsoft.com/office/drawing/2014/main" id="{1C2233CD-1347-4145-83D1-D71FF098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4810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12" name="band-Pista scientifica">
            <a:extLst xmlns:a="http://schemas.openxmlformats.org/drawingml/2006/main">
              <a:ext uri="{FF2B5EF4-FFF2-40B4-BE49-F238E27FC236}">
                <a16:creationId xmlns:a16="http://schemas.microsoft.com/office/drawing/2014/main" id="{2F8923B5-52B5-4AF8-8B1E-A2C21BCF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481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13" name="title-Pista scientifica">
            <a:extLst xmlns:a="http://schemas.openxmlformats.org/drawingml/2006/main">
              <a:ext uri="{FF2B5EF4-FFF2-40B4-BE49-F238E27FC236}">
                <a16:creationId xmlns:a16="http://schemas.microsoft.com/office/drawing/2014/main" id="{246D1A16-6E9E-428B-B071-C644C3C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4314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041"/>
                </a:solidFill>
              </a:defRPr>
            </a:pPr>
            <a:r>
              <a:rPr sz="1875" b="1">
                <a:solidFill>
                  <a:srgbClr val="1F2041"/>
                </a:solidFill>
              </a:rPr>
              <a:t>Pista scientifica</a:t>
            </a:r>
          </a:p>
        </p:txBody>
      </p:sp>
      <p:sp>
        <p:nvSpPr>
          <p:cNvPr id="14" name="body-Pista scientifica">
            <a:extLst xmlns:a="http://schemas.openxmlformats.org/drawingml/2006/main">
              <a:ext uri="{FF2B5EF4-FFF2-40B4-BE49-F238E27FC236}">
                <a16:creationId xmlns:a16="http://schemas.microsoft.com/office/drawing/2014/main" id="{444ABC82-B570-4B02-9652-53442F6C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4314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E63"/>
                </a:solidFill>
              </a:defRPr>
            </a:pPr>
            <a:r>
              <a:rPr sz="1275" b="0">
                <a:solidFill>
                  <a:srgbClr val="2B2E63"/>
                </a:solidFill>
              </a:rPr>
              <a:t>Tre famiglie di campioni aiutano a costruire il confronto. Ogni famiglia nasconde una regolarita' che puo' emergere dai dati.</a:t>
            </a:r>
          </a:p>
        </p:txBody>
      </p:sp>
      <p:sp>
        <p:nvSpPr>
          <p:cNvPr id="15" name="clues-title">
            <a:extLst xmlns:a="http://schemas.openxmlformats.org/drawingml/2006/main">
              <a:ext uri="{FF2B5EF4-FFF2-40B4-BE49-F238E27FC236}">
                <a16:creationId xmlns:a16="http://schemas.microsoft.com/office/drawing/2014/main" id="{6C44799A-074B-4D24-A2DE-DA34439E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041"/>
                </a:solidFill>
              </a:defRPr>
            </a:pPr>
            <a:r>
              <a:rPr sz="2025" b="1">
                <a:solidFill>
                  <a:srgbClr val="1F2041"/>
                </a:solidFill>
              </a:rPr>
              <a:t>Indizi sul banco</a:t>
            </a:r>
          </a:p>
        </p:txBody>
      </p:sp>
      <p:sp>
        <p:nvSpPr>
          <p:cNvPr id="16" name="clue-">
            <a:extLst xmlns:a="http://schemas.openxmlformats.org/drawingml/2006/main">
              <a:ext uri="{FF2B5EF4-FFF2-40B4-BE49-F238E27FC236}">
                <a16:creationId xmlns:a16="http://schemas.microsoft.com/office/drawing/2014/main" id="{D0F03FD2-025A-448E-B96D-F72BE2C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17" name="clue-band-">
            <a:extLst xmlns:a="http://schemas.openxmlformats.org/drawingml/2006/main">
              <a:ext uri="{FF2B5EF4-FFF2-40B4-BE49-F238E27FC236}">
                <a16:creationId xmlns:a16="http://schemas.microsoft.com/office/drawing/2014/main" id="{19641263-19E4-401B-8118-C715A14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18" name="clue-label-">
            <a:extLst xmlns:a="http://schemas.openxmlformats.org/drawingml/2006/main">
              <a:ext uri="{FF2B5EF4-FFF2-40B4-BE49-F238E27FC236}">
                <a16:creationId xmlns:a16="http://schemas.microsoft.com/office/drawing/2014/main" id="{E3B9517E-1CFE-4875-ACC6-E0EC28C3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Scheda archivio</a:t>
            </a:r>
          </a:p>
        </p:txBody>
      </p:sp>
      <p:sp>
        <p:nvSpPr>
          <p:cNvPr id="19" name="clue-body-">
            <a:extLst xmlns:a="http://schemas.openxmlformats.org/drawingml/2006/main">
              <a:ext uri="{FF2B5EF4-FFF2-40B4-BE49-F238E27FC236}">
                <a16:creationId xmlns:a16="http://schemas.microsoft.com/office/drawing/2014/main" id="{C7F5B282-C5B8-4653-9229-2F42F000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Il reperto risulta catalogato come frammento di ferro meteoritico.</a:t>
            </a:r>
          </a:p>
        </p:txBody>
      </p:sp>
      <p:sp>
        <p:nvSpPr>
          <p:cNvPr id="20" name="clue-">
            <a:extLst xmlns:a="http://schemas.openxmlformats.org/drawingml/2006/main">
              <a:ext uri="{FF2B5EF4-FFF2-40B4-BE49-F238E27FC236}">
                <a16:creationId xmlns:a16="http://schemas.microsoft.com/office/drawing/2014/main" id="{A41A3686-7AEF-49FF-BADF-7B300DF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1" name="clue-band-">
            <a:extLst xmlns:a="http://schemas.openxmlformats.org/drawingml/2006/main">
              <a:ext uri="{FF2B5EF4-FFF2-40B4-BE49-F238E27FC236}">
                <a16:creationId xmlns:a16="http://schemas.microsoft.com/office/drawing/2014/main" id="{B267B226-E3DF-4FF9-8AF8-D098C8F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22" name="clue-label-">
            <a:extLst xmlns:a="http://schemas.openxmlformats.org/drawingml/2006/main">
              <a:ext uri="{FF2B5EF4-FFF2-40B4-BE49-F238E27FC236}">
                <a16:creationId xmlns:a16="http://schemas.microsoft.com/office/drawing/2014/main" id="{1AAF3FC2-E892-4651-82BE-0D403C87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Oggetto X</a:t>
            </a:r>
          </a:p>
        </p:txBody>
      </p:sp>
      <p:sp>
        <p:nvSpPr>
          <p:cNvPr id="23" name="clue-body-">
            <a:extLst xmlns:a="http://schemas.openxmlformats.org/drawingml/2006/main">
              <a:ext uri="{FF2B5EF4-FFF2-40B4-BE49-F238E27FC236}">
                <a16:creationId xmlns:a16="http://schemas.microsoft.com/office/drawing/2014/main" id="{2E7F4021-5640-4DB7-AF42-5BA994D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Assomiglia all originale, ma alcuni dettagli non convincono.</a:t>
            </a:r>
          </a:p>
        </p:txBody>
      </p:sp>
      <p:sp>
        <p:nvSpPr>
          <p:cNvPr id="24" name="clue-">
            <a:extLst xmlns:a="http://schemas.openxmlformats.org/drawingml/2006/main">
              <a:ext uri="{FF2B5EF4-FFF2-40B4-BE49-F238E27FC236}">
                <a16:creationId xmlns:a16="http://schemas.microsoft.com/office/drawing/2014/main" id="{0F099CAF-9067-4F70-B65D-E54B1FF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5" name="clue-band-">
            <a:extLst xmlns:a="http://schemas.openxmlformats.org/drawingml/2006/main">
              <a:ext uri="{FF2B5EF4-FFF2-40B4-BE49-F238E27FC236}">
                <a16:creationId xmlns:a16="http://schemas.microsoft.com/office/drawing/2014/main" id="{31974536-7AD5-4EFD-878F-E51C9A16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26" name="clue-label-">
            <a:extLst xmlns:a="http://schemas.openxmlformats.org/drawingml/2006/main">
              <a:ext uri="{FF2B5EF4-FFF2-40B4-BE49-F238E27FC236}">
                <a16:creationId xmlns:a16="http://schemas.microsoft.com/office/drawing/2014/main" id="{7FD94A97-3876-49ED-853A-4660482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Campioni A/B/C</a:t>
            </a:r>
          </a:p>
        </p:txBody>
      </p:sp>
      <p:sp>
        <p:nvSpPr>
          <p:cNvPr id="27" name="clue-body-">
            <a:extLst xmlns:a="http://schemas.openxmlformats.org/drawingml/2006/main">
              <a:ext uri="{FF2B5EF4-FFF2-40B4-BE49-F238E27FC236}">
                <a16:creationId xmlns:a16="http://schemas.microsoft.com/office/drawing/2014/main" id="{FCF55094-0699-43D4-AA26-2B78C646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Tre famiglie di riferimento: alluminio, ferro/acciaio e rame.</a:t>
            </a:r>
          </a:p>
        </p:txBody>
      </p:sp>
      <p:sp>
        <p:nvSpPr>
          <p:cNvPr id="28" name="clue-">
            <a:extLst xmlns:a="http://schemas.openxmlformats.org/drawingml/2006/main">
              <a:ext uri="{FF2B5EF4-FFF2-40B4-BE49-F238E27FC236}">
                <a16:creationId xmlns:a16="http://schemas.microsoft.com/office/drawing/2014/main" id="{D68E58A8-5E70-44BA-832F-882DEB81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9" name="clue-band-">
            <a:extLst xmlns:a="http://schemas.openxmlformats.org/drawingml/2006/main">
              <a:ext uri="{FF2B5EF4-FFF2-40B4-BE49-F238E27FC236}">
                <a16:creationId xmlns:a16="http://schemas.microsoft.com/office/drawing/2014/main" id="{5AB23791-A025-4896-829A-BC8DCAF2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30" name="clue-label-">
            <a:extLst xmlns:a="http://schemas.openxmlformats.org/drawingml/2006/main">
              <a:ext uri="{FF2B5EF4-FFF2-40B4-BE49-F238E27FC236}">
                <a16:creationId xmlns:a16="http://schemas.microsoft.com/office/drawing/2014/main" id="{543FF69D-9A28-4F90-AA22-F81F5F9E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Osservazioni</a:t>
            </a:r>
          </a:p>
        </p:txBody>
      </p:sp>
      <p:sp>
        <p:nvSpPr>
          <p:cNvPr id="31" name="clue-body-">
            <a:extLst xmlns:a="http://schemas.openxmlformats.org/drawingml/2006/main">
              <a:ext uri="{FF2B5EF4-FFF2-40B4-BE49-F238E27FC236}">
                <a16:creationId xmlns:a16="http://schemas.microsoft.com/office/drawing/2014/main" id="{57ED312F-B789-4361-9E46-DDEC9209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Collezione di meteoriti ferrosi; tracce rossastre sull oggetto.</a:t>
            </a:r>
          </a:p>
        </p:txBody>
      </p:sp>
      <p:sp>
        <p:nvSpPr>
          <p:cNvPr id="32" name="experiment-box">
            <a:extLst xmlns:a="http://schemas.openxmlformats.org/drawingml/2006/main">
              <a:ext uri="{FF2B5EF4-FFF2-40B4-BE49-F238E27FC236}">
                <a16:creationId xmlns:a16="http://schemas.microsoft.com/office/drawing/2014/main" id="{0A868F85-8BE2-4BBC-833B-8AC94ED6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0"/>
            <a:ext cx="9477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3335">
            <a:solidFill>
              <a:srgbClr val="1F2041"/>
            </a:solidFill>
            <a:prstDash val="solid"/>
          </a:ln>
        </p:spPr>
      </p:sp>
      <p:sp>
        <p:nvSpPr>
          <p:cNvPr id="33" name="experiment-title">
            <a:extLst xmlns:a="http://schemas.openxmlformats.org/drawingml/2006/main">
              <a:ext uri="{FF2B5EF4-FFF2-40B4-BE49-F238E27FC236}">
                <a16:creationId xmlns:a16="http://schemas.microsoft.com/office/drawing/2014/main" id="{69E48ABD-D2B9-4172-98CA-8939AE3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486900"/>
            <a:ext cx="890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041"/>
                </a:solidFill>
              </a:defRPr>
            </a:pPr>
            <a:r>
              <a:rPr sz="1800" b="1">
                <a:solidFill>
                  <a:srgbClr val="1F2041"/>
                </a:solidFill>
              </a:rPr>
              <a:t>Come immaginiamo il banco di indagine</a:t>
            </a:r>
          </a:p>
        </p:txBody>
      </p:sp>
      <p:sp>
        <p:nvSpPr>
          <p:cNvPr id="34" name="sample-A">
            <a:extLst xmlns:a="http://schemas.openxmlformats.org/drawingml/2006/main">
              <a:ext uri="{FF2B5EF4-FFF2-40B4-BE49-F238E27FC236}">
                <a16:creationId xmlns:a16="http://schemas.microsoft.com/office/drawing/2014/main" id="{3BE34905-4F84-475F-A811-6E2D04A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01300"/>
            <a:ext cx="476250" cy="1066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2383">
            <a:solidFill>
              <a:srgbClr val="1F2041"/>
            </a:solidFill>
            <a:prstDash val="solid"/>
          </a:ln>
        </p:spPr>
      </p:sp>
      <p:sp>
        <p:nvSpPr>
          <p:cNvPr id="35" name="sample-band-A">
            <a:extLst xmlns:a="http://schemas.openxmlformats.org/drawingml/2006/main">
              <a:ext uri="{FF2B5EF4-FFF2-40B4-BE49-F238E27FC236}">
                <a16:creationId xmlns:a16="http://schemas.microsoft.com/office/drawing/2014/main" id="{DBECE0AC-A554-4AC8-A554-58D9071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020044"/>
            <a:ext cx="476250" cy="192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36" name="sample-label-A">
            <a:extLst xmlns:a="http://schemas.openxmlformats.org/drawingml/2006/main">
              <a:ext uri="{FF2B5EF4-FFF2-40B4-BE49-F238E27FC236}">
                <a16:creationId xmlns:a16="http://schemas.microsoft.com/office/drawing/2014/main" id="{7EDFB909-8508-466D-AC10-07E6371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77468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041"/>
                </a:solidFill>
              </a:defRPr>
            </a:pPr>
            <a:r>
              <a:rPr sz="1050" b="1">
                <a:solidFill>
                  <a:srgbClr val="1F2041"/>
                </a:solidFill>
              </a:rPr>
              <a:t>A</a:t>
            </a:r>
          </a:p>
        </p:txBody>
      </p:sp>
      <p:sp>
        <p:nvSpPr>
          <p:cNvPr id="37" name="sample-B">
            <a:extLst xmlns:a="http://schemas.openxmlformats.org/drawingml/2006/main">
              <a:ext uri="{FF2B5EF4-FFF2-40B4-BE49-F238E27FC236}">
                <a16:creationId xmlns:a16="http://schemas.microsoft.com/office/drawing/2014/main" id="{DE146682-7639-4E33-92EC-7A8B8BD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0248900"/>
            <a:ext cx="476250" cy="1219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2383">
            <a:solidFill>
              <a:srgbClr val="1F2041"/>
            </a:solidFill>
            <a:prstDash val="solid"/>
          </a:ln>
        </p:spPr>
      </p:sp>
      <p:sp>
        <p:nvSpPr>
          <p:cNvPr id="38" name="sample-band-B">
            <a:extLst xmlns:a="http://schemas.openxmlformats.org/drawingml/2006/main">
              <a:ext uri="{FF2B5EF4-FFF2-40B4-BE49-F238E27FC236}">
                <a16:creationId xmlns:a16="http://schemas.microsoft.com/office/drawing/2014/main" id="{3180D86B-39B5-43D1-8912-16376BA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0956036"/>
            <a:ext cx="47625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39" name="sample-label-B">
            <a:extLst xmlns:a="http://schemas.openxmlformats.org/drawingml/2006/main">
              <a:ext uri="{FF2B5EF4-FFF2-40B4-BE49-F238E27FC236}">
                <a16:creationId xmlns:a16="http://schemas.microsoft.com/office/drawing/2014/main" id="{6DA46DF6-A9F1-449F-A130-AEB22FF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067562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041"/>
                </a:solidFill>
              </a:defRPr>
            </a:pPr>
            <a:r>
              <a:rPr sz="1050" b="1">
                <a:solidFill>
                  <a:srgbClr val="1F2041"/>
                </a:solidFill>
              </a:rPr>
              <a:t>B</a:t>
            </a:r>
          </a:p>
        </p:txBody>
      </p:sp>
      <p:sp>
        <p:nvSpPr>
          <p:cNvPr id="40" name="sample-C">
            <a:extLst xmlns:a="http://schemas.openxmlformats.org/drawingml/2006/main">
              <a:ext uri="{FF2B5EF4-FFF2-40B4-BE49-F238E27FC236}">
                <a16:creationId xmlns:a16="http://schemas.microsoft.com/office/drawing/2014/main" id="{96778733-AA92-41AF-959D-B7A2D93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0077450"/>
            <a:ext cx="476250" cy="13906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2383">
            <a:solidFill>
              <a:srgbClr val="1F2041"/>
            </a:solidFill>
            <a:prstDash val="solid"/>
          </a:ln>
        </p:spPr>
      </p:sp>
      <p:sp>
        <p:nvSpPr>
          <p:cNvPr id="41" name="sample-band-C">
            <a:extLst xmlns:a="http://schemas.openxmlformats.org/drawingml/2006/main">
              <a:ext uri="{FF2B5EF4-FFF2-40B4-BE49-F238E27FC236}">
                <a16:creationId xmlns:a16="http://schemas.microsoft.com/office/drawing/2014/main" id="{235FE295-8871-4E7F-86B7-928E742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0884027"/>
            <a:ext cx="476250" cy="2503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42" name="sample-label-C">
            <a:extLst xmlns:a="http://schemas.openxmlformats.org/drawingml/2006/main">
              <a:ext uri="{FF2B5EF4-FFF2-40B4-BE49-F238E27FC236}">
                <a16:creationId xmlns:a16="http://schemas.microsoft.com/office/drawing/2014/main" id="{8BF2FC50-25C8-466D-B6F6-213395EA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0564178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041"/>
                </a:solidFill>
              </a:defRPr>
            </a:pPr>
            <a:r>
              <a:rPr sz="1050" b="1">
                <a:solidFill>
                  <a:srgbClr val="1F2041"/>
                </a:solidFill>
              </a:rPr>
              <a:t>C</a:t>
            </a:r>
          </a:p>
        </p:txBody>
      </p:sp>
      <p:sp>
        <p:nvSpPr>
          <p:cNvPr id="43" name="sample-X">
            <a:extLst xmlns:a="http://schemas.openxmlformats.org/drawingml/2006/main">
              <a:ext uri="{FF2B5EF4-FFF2-40B4-BE49-F238E27FC236}">
                <a16:creationId xmlns:a16="http://schemas.microsoft.com/office/drawing/2014/main" id="{FEFC73B5-7888-4973-929E-0052D42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0401300"/>
            <a:ext cx="533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2383">
            <a:solidFill>
              <a:srgbClr val="1F2041"/>
            </a:solidFill>
            <a:prstDash val="solid"/>
          </a:ln>
        </p:spPr>
      </p:sp>
      <p:sp>
        <p:nvSpPr>
          <p:cNvPr id="44" name="sample-band-X">
            <a:extLst xmlns:a="http://schemas.openxmlformats.org/drawingml/2006/main">
              <a:ext uri="{FF2B5EF4-FFF2-40B4-BE49-F238E27FC236}">
                <a16:creationId xmlns:a16="http://schemas.microsoft.com/office/drawing/2014/main" id="{CFE71D93-DE1D-4399-8FB6-7BDDDF7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1020044"/>
            <a:ext cx="533400" cy="192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45" name="sample-label-X">
            <a:extLst xmlns:a="http://schemas.openxmlformats.org/drawingml/2006/main">
              <a:ext uri="{FF2B5EF4-FFF2-40B4-BE49-F238E27FC236}">
                <a16:creationId xmlns:a16="http://schemas.microsoft.com/office/drawing/2014/main" id="{AA8A5E4F-037C-4208-8DB8-BDA203E4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077468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BEA"/>
                </a:solidFill>
              </a:defRPr>
            </a:pPr>
            <a:r>
              <a:rPr sz="1050" b="1">
                <a:solidFill>
                  <a:srgbClr val="FFFBEA"/>
                </a:solidFill>
              </a:rPr>
              <a:t>X</a:t>
            </a:r>
          </a:p>
        </p:txBody>
      </p:sp>
      <p:sp>
        <p:nvSpPr>
          <p:cNvPr id="46" name="bench-line">
            <a:extLst xmlns:a="http://schemas.openxmlformats.org/drawingml/2006/main">
              <a:ext uri="{FF2B5EF4-FFF2-40B4-BE49-F238E27FC236}">
                <a16:creationId xmlns:a16="http://schemas.microsoft.com/office/drawing/2014/main" id="{46E82E72-6FC7-44D8-8F52-693D52F1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563350"/>
            <a:ext cx="274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47" name="sample-note">
            <a:extLst xmlns:a="http://schemas.openxmlformats.org/drawingml/2006/main">
              <a:ext uri="{FF2B5EF4-FFF2-40B4-BE49-F238E27FC236}">
                <a16:creationId xmlns:a16="http://schemas.microsoft.com/office/drawing/2014/main" id="{2E1E0EA3-7FF8-43DD-A2D9-BC6EB06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69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E63"/>
                </a:solidFill>
              </a:defRPr>
            </a:pPr>
            <a:r>
              <a:rPr sz="1050" b="1">
                <a:solidFill>
                  <a:srgbClr val="2B2E63"/>
                </a:solidFill>
              </a:rPr>
              <a:t>campioni chiusi</a:t>
            </a:r>
          </a:p>
        </p:txBody>
      </p:sp>
      <p:sp>
        <p:nvSpPr>
          <p:cNvPr id="48" name="flow-arrow">
            <a:extLst xmlns:a="http://schemas.openxmlformats.org/drawingml/2006/main">
              <a:ext uri="{FF2B5EF4-FFF2-40B4-BE49-F238E27FC236}">
                <a16:creationId xmlns:a16="http://schemas.microsoft.com/office/drawing/2014/main" id="{010CE97B-58C0-471C-A153-A77D41E1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07251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49" name="scale-base">
            <a:extLst xmlns:a="http://schemas.openxmlformats.org/drawingml/2006/main">
              <a:ext uri="{FF2B5EF4-FFF2-40B4-BE49-F238E27FC236}">
                <a16:creationId xmlns:a16="http://schemas.microsoft.com/office/drawing/2014/main" id="{A722C993-D321-4804-A9C0-33830E2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960608"/>
            <a:ext cx="1285875" cy="325755"/>
          </a:xfrm>
          <a:prstGeom xmlns:a="http://schemas.openxmlformats.org/drawingml/2006/main" prst="roundRect">
            <a:avLst>
              <a:gd name="adj" fmla="val 23392"/>
            </a:avLst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0" name="scale-display">
            <a:extLst xmlns:a="http://schemas.openxmlformats.org/drawingml/2006/main">
              <a:ext uri="{FF2B5EF4-FFF2-40B4-BE49-F238E27FC236}">
                <a16:creationId xmlns:a16="http://schemas.microsoft.com/office/drawing/2014/main" id="{E9025F00-7F53-4B97-81CD-42BBF50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1069193"/>
            <a:ext cx="8286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0">
            <a:solidFill>
              <a:srgbClr val="FFFBEA"/>
            </a:solidFill>
            <a:prstDash val="solid"/>
          </a:ln>
        </p:spPr>
      </p:sp>
      <p:sp>
        <p:nvSpPr>
          <p:cNvPr id="51" name="scale-text">
            <a:extLst xmlns:a="http://schemas.openxmlformats.org/drawingml/2006/main">
              <a:ext uri="{FF2B5EF4-FFF2-40B4-BE49-F238E27FC236}">
                <a16:creationId xmlns:a16="http://schemas.microsoft.com/office/drawing/2014/main" id="{E7EC2663-9364-41A8-BE00-C6752D62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080052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041"/>
                </a:solidFill>
              </a:defRPr>
            </a:pPr>
            <a:r>
              <a:rPr sz="900" b="1">
                <a:solidFill>
                  <a:srgbClr val="1F2041"/>
                </a:solidFill>
              </a:rPr>
              <a:t>massa</a:t>
            </a:r>
          </a:p>
        </p:txBody>
      </p:sp>
      <p:sp>
        <p:nvSpPr>
          <p:cNvPr id="52" name="scale-pan">
            <a:extLst xmlns:a="http://schemas.openxmlformats.org/drawingml/2006/main">
              <a:ext uri="{FF2B5EF4-FFF2-40B4-BE49-F238E27FC236}">
                <a16:creationId xmlns:a16="http://schemas.microsoft.com/office/drawing/2014/main" id="{271700DC-EAF3-4553-9DA5-14B2497E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0765155"/>
            <a:ext cx="714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53" name="flow-arrow">
            <a:extLst xmlns:a="http://schemas.openxmlformats.org/drawingml/2006/main">
              <a:ext uri="{FF2B5EF4-FFF2-40B4-BE49-F238E27FC236}">
                <a16:creationId xmlns:a16="http://schemas.microsoft.com/office/drawing/2014/main" id="{2ED2AD54-7943-401D-BF3A-679841B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07251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54" name="cylinder">
            <a:extLst xmlns:a="http://schemas.openxmlformats.org/drawingml/2006/main">
              <a:ext uri="{FF2B5EF4-FFF2-40B4-BE49-F238E27FC236}">
                <a16:creationId xmlns:a16="http://schemas.microsoft.com/office/drawing/2014/main" id="{C32CC0B4-33AC-4988-96FC-2871DCBB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0153650"/>
            <a:ext cx="857250" cy="1428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2383">
            <a:solidFill>
              <a:srgbClr val="2B2E63"/>
            </a:solidFill>
            <a:prstDash val="solid"/>
          </a:ln>
        </p:spPr>
      </p:sp>
      <p:sp>
        <p:nvSpPr>
          <p:cNvPr id="55" name="water">
            <a:extLst xmlns:a="http://schemas.openxmlformats.org/drawingml/2006/main">
              <a:ext uri="{FF2B5EF4-FFF2-40B4-BE49-F238E27FC236}">
                <a16:creationId xmlns:a16="http://schemas.microsoft.com/office/drawing/2014/main" id="{62A2E2F7-6613-4851-B312-C38E0FD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0896600"/>
            <a:ext cx="7048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56" name="tick">
            <a:extLst xmlns:a="http://schemas.openxmlformats.org/drawingml/2006/main">
              <a:ext uri="{FF2B5EF4-FFF2-40B4-BE49-F238E27FC236}">
                <a16:creationId xmlns:a16="http://schemas.microsoft.com/office/drawing/2014/main" id="{C829ED1D-2A52-485F-822B-DCE4844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357757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7" name="tick">
            <a:extLst xmlns:a="http://schemas.openxmlformats.org/drawingml/2006/main">
              <a:ext uri="{FF2B5EF4-FFF2-40B4-BE49-F238E27FC236}">
                <a16:creationId xmlns:a16="http://schemas.microsoft.com/office/drawing/2014/main" id="{F61A7320-04D9-46B4-887F-AEA9491C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561864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8" name="tick">
            <a:extLst xmlns:a="http://schemas.openxmlformats.org/drawingml/2006/main">
              <a:ext uri="{FF2B5EF4-FFF2-40B4-BE49-F238E27FC236}">
                <a16:creationId xmlns:a16="http://schemas.microsoft.com/office/drawing/2014/main" id="{6EA9C253-3773-4DF6-AC80-94606067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765971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9" name="tick">
            <a:extLst xmlns:a="http://schemas.openxmlformats.org/drawingml/2006/main">
              <a:ext uri="{FF2B5EF4-FFF2-40B4-BE49-F238E27FC236}">
                <a16:creationId xmlns:a16="http://schemas.microsoft.com/office/drawing/2014/main" id="{75A7BAF9-60E9-4016-8A9D-D01F9741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970079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60" name="tick">
            <a:extLst xmlns:a="http://schemas.openxmlformats.org/drawingml/2006/main">
              <a:ext uri="{FF2B5EF4-FFF2-40B4-BE49-F238E27FC236}">
                <a16:creationId xmlns:a16="http://schemas.microsoft.com/office/drawing/2014/main" id="{DE0F74D7-E46A-4279-A9A8-CAB9526E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1174186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61" name="tick">
            <a:extLst xmlns:a="http://schemas.openxmlformats.org/drawingml/2006/main">
              <a:ext uri="{FF2B5EF4-FFF2-40B4-BE49-F238E27FC236}">
                <a16:creationId xmlns:a16="http://schemas.microsoft.com/office/drawing/2014/main" id="{F52A435E-B6CE-4EB9-B7D6-C89ED56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1378293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62" name="water-label">
            <a:extLst xmlns:a="http://schemas.openxmlformats.org/drawingml/2006/main">
              <a:ext uri="{FF2B5EF4-FFF2-40B4-BE49-F238E27FC236}">
                <a16:creationId xmlns:a16="http://schemas.microsoft.com/office/drawing/2014/main" id="{5F0D9877-2C00-413E-A577-F2C793B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11537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041"/>
                </a:solidFill>
              </a:defRPr>
            </a:pPr>
            <a:r>
              <a:rPr sz="825" b="1">
                <a:solidFill>
                  <a:srgbClr val="1F2041"/>
                </a:solidFill>
              </a:rPr>
              <a:t>acqua</a:t>
            </a:r>
          </a:p>
        </p:txBody>
      </p:sp>
      <p:sp>
        <p:nvSpPr>
          <p:cNvPr id="63" name="flow-arrow">
            <a:extLst xmlns:a="http://schemas.openxmlformats.org/drawingml/2006/main">
              <a:ext uri="{FF2B5EF4-FFF2-40B4-BE49-F238E27FC236}">
                <a16:creationId xmlns:a16="http://schemas.microsoft.com/office/drawing/2014/main" id="{A7A99F5C-B6FA-456F-9D8A-BB8F8857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7251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4" name="graph-frame">
            <a:extLst xmlns:a="http://schemas.openxmlformats.org/drawingml/2006/main">
              <a:ext uri="{FF2B5EF4-FFF2-40B4-BE49-F238E27FC236}">
                <a16:creationId xmlns:a16="http://schemas.microsoft.com/office/drawing/2014/main" id="{4814FD03-C46B-4FB6-86E2-4A4E1B8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0077450"/>
            <a:ext cx="20478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0478">
            <a:solidFill>
              <a:srgbClr val="2B2E63"/>
            </a:solidFill>
            <a:prstDash val="solid"/>
          </a:ln>
        </p:spPr>
      </p:sp>
      <p:sp>
        <p:nvSpPr>
          <p:cNvPr id="65" name="x-axis">
            <a:extLst xmlns:a="http://schemas.openxmlformats.org/drawingml/2006/main">
              <a:ext uri="{FF2B5EF4-FFF2-40B4-BE49-F238E27FC236}">
                <a16:creationId xmlns:a16="http://schemas.microsoft.com/office/drawing/2014/main" id="{75687215-72C9-47A3-8FAD-A41A8694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1220450"/>
            <a:ext cx="1362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66" name="y-axis">
            <a:extLst xmlns:a="http://schemas.openxmlformats.org/drawingml/2006/main">
              <a:ext uri="{FF2B5EF4-FFF2-40B4-BE49-F238E27FC236}">
                <a16:creationId xmlns:a16="http://schemas.microsoft.com/office/drawing/2014/main" id="{D868B426-8114-492A-8BD3-26371FD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382250"/>
            <a:ext cx="285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67" name="line-A">
            <a:extLst xmlns:a="http://schemas.openxmlformats.org/drawingml/2006/main">
              <a:ext uri="{FF2B5EF4-FFF2-40B4-BE49-F238E27FC236}">
                <a16:creationId xmlns:a16="http://schemas.microsoft.com/office/drawing/2014/main" id="{94C844CF-C9A4-4DF7-9FEC-5364CE8E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7591">
            <a:off x="9296400" y="11129963"/>
            <a:ext cx="12481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68" name="point-A">
            <a:extLst xmlns:a="http://schemas.openxmlformats.org/drawingml/2006/main">
              <a:ext uri="{FF2B5EF4-FFF2-40B4-BE49-F238E27FC236}">
                <a16:creationId xmlns:a16="http://schemas.microsoft.com/office/drawing/2014/main" id="{DF72F441-35CB-4942-B1A2-03E1AB0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393" y="110307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69" name="point-A">
            <a:extLst xmlns:a="http://schemas.openxmlformats.org/drawingml/2006/main">
              <a:ext uri="{FF2B5EF4-FFF2-40B4-BE49-F238E27FC236}">
                <a16:creationId xmlns:a16="http://schemas.microsoft.com/office/drawing/2014/main" id="{995ADDE4-A6F3-4D47-B0AA-338F9E8F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436" y="1096934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70" name="point-A">
            <a:extLst xmlns:a="http://schemas.openxmlformats.org/drawingml/2006/main">
              <a:ext uri="{FF2B5EF4-FFF2-40B4-BE49-F238E27FC236}">
                <a16:creationId xmlns:a16="http://schemas.microsoft.com/office/drawing/2014/main" id="{3E13ED4C-7ACA-4728-B53C-3AD94458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330" y="109166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71" name="graph-label-A">
            <a:extLst xmlns:a="http://schemas.openxmlformats.org/drawingml/2006/main">
              <a:ext uri="{FF2B5EF4-FFF2-40B4-BE49-F238E27FC236}">
                <a16:creationId xmlns:a16="http://schemas.microsoft.com/office/drawing/2014/main" id="{0F2F8BDF-B4AC-4E3A-B6D8-D9EB51C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753344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041"/>
                </a:solidFill>
              </a:defRPr>
            </a:pPr>
            <a:r>
              <a:rPr sz="900" b="1">
                <a:solidFill>
                  <a:srgbClr val="1F2041"/>
                </a:solidFill>
              </a:rPr>
              <a:t>A</a:t>
            </a:r>
          </a:p>
        </p:txBody>
      </p:sp>
      <p:sp>
        <p:nvSpPr>
          <p:cNvPr id="72" name="line-B">
            <a:extLst xmlns:a="http://schemas.openxmlformats.org/drawingml/2006/main">
              <a:ext uri="{FF2B5EF4-FFF2-40B4-BE49-F238E27FC236}">
                <a16:creationId xmlns:a16="http://schemas.microsoft.com/office/drawing/2014/main" id="{61418AE7-BB58-4B14-835F-32525EC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5280">
            <a:off x="9296400" y="11129963"/>
            <a:ext cx="130021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73" name="point-B">
            <a:extLst xmlns:a="http://schemas.openxmlformats.org/drawingml/2006/main">
              <a:ext uri="{FF2B5EF4-FFF2-40B4-BE49-F238E27FC236}">
                <a16:creationId xmlns:a16="http://schemas.microsoft.com/office/drawing/2014/main" id="{6E5B7F98-51AD-40B3-9206-A0BCF53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393" y="10969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74" name="point-B">
            <a:extLst xmlns:a="http://schemas.openxmlformats.org/drawingml/2006/main">
              <a:ext uri="{FF2B5EF4-FFF2-40B4-BE49-F238E27FC236}">
                <a16:creationId xmlns:a16="http://schemas.microsoft.com/office/drawing/2014/main" id="{4D1BF11F-C21A-459F-9544-C3D8B3A8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436" y="1085001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75" name="point-B">
            <a:extLst xmlns:a="http://schemas.openxmlformats.org/drawingml/2006/main">
              <a:ext uri="{FF2B5EF4-FFF2-40B4-BE49-F238E27FC236}">
                <a16:creationId xmlns:a16="http://schemas.microsoft.com/office/drawing/2014/main" id="{AD570BFA-2082-4A99-B850-42C9459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330" y="107479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76" name="graph-label-B">
            <a:extLst xmlns:a="http://schemas.openxmlformats.org/drawingml/2006/main">
              <a:ext uri="{FF2B5EF4-FFF2-40B4-BE49-F238E27FC236}">
                <a16:creationId xmlns:a16="http://schemas.microsoft.com/office/drawing/2014/main" id="{877777B9-E9E4-488F-A7C6-12359F1C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547604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041"/>
                </a:solidFill>
              </a:defRPr>
            </a:pPr>
            <a:r>
              <a:rPr sz="900" b="1">
                <a:solidFill>
                  <a:srgbClr val="1F2041"/>
                </a:solidFill>
              </a:rPr>
              <a:t>B</a:t>
            </a:r>
          </a:p>
        </p:txBody>
      </p:sp>
      <p:sp>
        <p:nvSpPr>
          <p:cNvPr id="77" name="line-C">
            <a:extLst xmlns:a="http://schemas.openxmlformats.org/drawingml/2006/main">
              <a:ext uri="{FF2B5EF4-FFF2-40B4-BE49-F238E27FC236}">
                <a16:creationId xmlns:a16="http://schemas.microsoft.com/office/drawing/2014/main" id="{E957BD6C-8E20-45E2-874D-51E717C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11551">
            <a:off x="9296400" y="11129963"/>
            <a:ext cx="134011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78" name="point-C">
            <a:extLst xmlns:a="http://schemas.openxmlformats.org/drawingml/2006/main">
              <a:ext uri="{FF2B5EF4-FFF2-40B4-BE49-F238E27FC236}">
                <a16:creationId xmlns:a16="http://schemas.microsoft.com/office/drawing/2014/main" id="{4C421449-BF11-472B-9981-76AA680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393" y="109361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79" name="point-C">
            <a:extLst xmlns:a="http://schemas.openxmlformats.org/drawingml/2006/main">
              <a:ext uri="{FF2B5EF4-FFF2-40B4-BE49-F238E27FC236}">
                <a16:creationId xmlns:a16="http://schemas.microsoft.com/office/drawing/2014/main" id="{B800E190-8C4B-4DEC-9670-C52763D8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436" y="1078636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80" name="point-C">
            <a:extLst xmlns:a="http://schemas.openxmlformats.org/drawingml/2006/main">
              <a:ext uri="{FF2B5EF4-FFF2-40B4-BE49-F238E27FC236}">
                <a16:creationId xmlns:a16="http://schemas.microsoft.com/office/drawing/2014/main" id="{9AAAB9D1-6564-4AC4-9EBA-8D0A1160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330" y="1065798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81" name="graph-label-C">
            <a:extLst xmlns:a="http://schemas.openxmlformats.org/drawingml/2006/main">
              <a:ext uri="{FF2B5EF4-FFF2-40B4-BE49-F238E27FC236}">
                <a16:creationId xmlns:a16="http://schemas.microsoft.com/office/drawing/2014/main" id="{B140BD83-C6A4-4200-A130-391AC7F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437876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041"/>
                </a:solidFill>
              </a:defRPr>
            </a:pPr>
            <a:r>
              <a:rPr sz="900" b="1">
                <a:solidFill>
                  <a:srgbClr val="1F2041"/>
                </a:solidFill>
              </a:rPr>
              <a:t>C</a:t>
            </a:r>
          </a:p>
        </p:txBody>
      </p:sp>
      <p:sp>
        <p:nvSpPr>
          <p:cNvPr id="82" name="point-X">
            <a:extLst xmlns:a="http://schemas.openxmlformats.org/drawingml/2006/main">
              <a:ext uri="{FF2B5EF4-FFF2-40B4-BE49-F238E27FC236}">
                <a16:creationId xmlns:a16="http://schemas.microsoft.com/office/drawing/2014/main" id="{DE4CFC08-9D85-4DF7-890E-6B88418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431" y="1081811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83" name="point-X-label">
            <a:extLst xmlns:a="http://schemas.openxmlformats.org/drawingml/2006/main">
              <a:ext uri="{FF2B5EF4-FFF2-40B4-BE49-F238E27FC236}">
                <a16:creationId xmlns:a16="http://schemas.microsoft.com/office/drawing/2014/main" id="{358B88E5-B421-4BCC-ACE7-45ED30B2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431" y="10825829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BEA"/>
                </a:solidFill>
              </a:defRPr>
            </a:pPr>
            <a:r>
              <a:rPr sz="825" b="1">
                <a:solidFill>
                  <a:srgbClr val="FFFBEA"/>
                </a:solidFill>
              </a:rPr>
              <a:t>X</a:t>
            </a:r>
          </a:p>
        </p:txBody>
      </p:sp>
      <p:sp>
        <p:nvSpPr>
          <p:cNvPr id="84" name="experiment-caption">
            <a:extLst xmlns:a="http://schemas.openxmlformats.org/drawingml/2006/main">
              <a:ext uri="{FF2B5EF4-FFF2-40B4-BE49-F238E27FC236}">
                <a16:creationId xmlns:a16="http://schemas.microsoft.com/office/drawing/2014/main" id="{B1663C52-1BCD-4C96-A800-30DDF24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734800"/>
            <a:ext cx="867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E63"/>
                </a:solidFill>
              </a:defRPr>
            </a:pPr>
            <a:r>
              <a:rPr sz="1125" b="0">
                <a:solidFill>
                  <a:srgbClr val="2B2E63"/>
                </a:solidFill>
              </a:rPr>
              <a:t>I campioni non rivelano subito il materiale. Devono prima diventare dati, poi confronto.</a:t>
            </a:r>
          </a:p>
        </p:txBody>
      </p:sp>
      <p:sp>
        <p:nvSpPr>
          <p:cNvPr id="85" name="expected-box">
            <a:extLst xmlns:a="http://schemas.openxmlformats.org/drawingml/2006/main">
              <a:ext uri="{FF2B5EF4-FFF2-40B4-BE49-F238E27FC236}">
                <a16:creationId xmlns:a16="http://schemas.microsoft.com/office/drawing/2014/main" id="{FF094648-D618-435A-A462-938A02A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0"/>
            <a:ext cx="542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86" name="expected-title">
            <a:extLst xmlns:a="http://schemas.openxmlformats.org/drawingml/2006/main">
              <a:ext uri="{FF2B5EF4-FFF2-40B4-BE49-F238E27FC236}">
                <a16:creationId xmlns:a16="http://schemas.microsoft.com/office/drawing/2014/main" id="{0F20DFA2-26C9-45CB-8D6E-C0454B38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95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041"/>
                </a:solidFill>
              </a:defRPr>
            </a:pPr>
            <a:r>
              <a:rPr sz="1725" b="1">
                <a:solidFill>
                  <a:srgbClr val="1F2041"/>
                </a:solidFill>
              </a:rPr>
              <a:t>Risultato atteso</a:t>
            </a:r>
          </a:p>
        </p:txBody>
      </p:sp>
      <p:sp>
        <p:nvSpPr>
          <p:cNvPr id="87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13C7FED4-5914-431E-9A76-C57A7D9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4112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E63"/>
                </a:solidFill>
              </a:defRPr>
            </a:pPr>
            <a:r>
              <a:rPr sz="1200" b="0">
                <a:solidFill>
                  <a:srgbClr val="2B2E63"/>
                </a:solidFill>
              </a:rPr>
              <a:t>Le tre famiglie formano tre rette. Se X fosse compatibile con il ferro meteoritico starebbe sulla retta del ferro; se cade piu' vicino alla retta rame/ottone, il reperto e' stato sostituito.</a:t>
            </a:r>
          </a:p>
        </p:txBody>
      </p:sp>
      <p:sp>
        <p:nvSpPr>
          <p:cNvPr id="88" name="message-box">
            <a:extLst xmlns:a="http://schemas.openxmlformats.org/drawingml/2006/main">
              <a:ext uri="{FF2B5EF4-FFF2-40B4-BE49-F238E27FC236}">
                <a16:creationId xmlns:a16="http://schemas.microsoft.com/office/drawing/2014/main" id="{4F41A472-646E-4BCC-B7E1-D6BD1D17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668250"/>
            <a:ext cx="37052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11430">
            <a:solidFill>
              <a:srgbClr val="1F2041"/>
            </a:solidFill>
            <a:prstDash val="solid"/>
          </a:ln>
        </p:spPr>
      </p:sp>
      <p:sp>
        <p:nvSpPr>
          <p:cNvPr id="89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B4733716-39C5-4422-B269-71E4AC7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954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E548"/>
                </a:solidFill>
              </a:defRPr>
            </a:pPr>
            <a:r>
              <a:rPr sz="1725" b="1">
                <a:solidFill>
                  <a:srgbClr val="FFE548"/>
                </a:solidFill>
              </a:rPr>
              <a:t>Messaggio chiave</a:t>
            </a:r>
          </a:p>
        </p:txBody>
      </p:sp>
      <p:sp>
        <p:nvSpPr>
          <p:cNvPr id="90" name="message-body">
            <a:extLst xmlns:a="http://schemas.openxmlformats.org/drawingml/2006/main">
              <a:ext uri="{FF2B5EF4-FFF2-40B4-BE49-F238E27FC236}">
                <a16:creationId xmlns:a16="http://schemas.microsoft.com/office/drawing/2014/main" id="{98FA8F13-9591-45A3-881F-06AAD907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4112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BEA"/>
                </a:solidFill>
              </a:defRPr>
            </a:pPr>
            <a:r>
              <a:rPr sz="1200" b="0">
                <a:solidFill>
                  <a:srgbClr val="FFFBEA"/>
                </a:solidFill>
              </a:rPr>
              <a:t>Una proprieta' fisica puo' diventare un indizio: un materiale puo' essere riconosciuto senza rovinare l'oggetto.</a:t>
            </a:r>
          </a:p>
        </p:txBody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cc3487da84058"/>
          <a:stretch xmlns:a="http://schemas.openxmlformats.org/drawingml/2006/main"/>
        </p:blipFill>
        <p:spPr>
          <a:xfrm xmlns:a="http://schemas.openxmlformats.org/drawingml/2006/main">
            <a:off x="609600" y="14443092"/>
            <a:ext cx="1809750" cy="403190"/>
          </a:xfrm>
          <a:prstGeom xmlns:a="http://schemas.openxmlformats.org/drawingml/2006/main" prst="rect">
            <a:avLst/>
          </a:prstGeom>
        </p:spPr>
      </p:pic>
      <p:sp>
        <p:nvSpPr>
          <p:cNvPr id="92" name="eu-footer">
            <a:extLst xmlns:a="http://schemas.openxmlformats.org/drawingml/2006/main">
              <a:ext uri="{FF2B5EF4-FFF2-40B4-BE49-F238E27FC236}">
                <a16:creationId xmlns:a16="http://schemas.microsoft.com/office/drawing/2014/main" id="{FBC80DCA-3BAE-41B9-88F6-7D105653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5732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B2E63"/>
                </a:solidFill>
              </a:defRPr>
            </a:pPr>
            <a:r>
              <a:rPr sz="863" b="0">
                <a:solidFill>
                  <a:srgbClr val="2B2E63"/>
                </a:solidFill>
              </a:rPr>
              <a:t>ERNEST is a European Researchers' Night project funded by the European Commission under the Marie Sklodowska-Curie Actions. GA 101305138</a:t>
            </a:r>
          </a:p>
        </p:txBody>
      </p:sp>
    </p:spTree>
    <p:extLst>
      <p:ext uri="{BB962C8B-B14F-4D97-AF65-F5344CB8AC3E}">
        <p14:creationId xmlns:p14="http://schemas.microsoft.com/office/powerpoint/2010/main" val="501560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2026-08-10T12:05:03.4450000Z</dcterms:created>
  <dcterms:modified xsi:type="dcterms:W3CDTF">2026-08-10T12:05:03.4450000Z</dcterms:modified>
</coreProperties>
</file>