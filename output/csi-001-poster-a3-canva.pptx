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395b943814f6b" /><Relationship Type="http://schemas.openxmlformats.org/officeDocument/2006/relationships/extended-properties" Target="/docProps/app.xml" Id="Rc0cec4c5e28d4dfe" /><Relationship Type="http://schemas.openxmlformats.org/officeDocument/2006/relationships/officeDocument" Target="/ppt/presentation.xml" Id="Ra06091f5475141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46e3e52e8645dd"/>
  </p:sldMasterIdLst>
  <p:notesMasterIdLst>
    <p:notesMasterId xmlns:r="http://schemas.openxmlformats.org/officeDocument/2006/relationships" r:id="Rf42f2209f02443fe"/>
  </p:notesMasterIdLst>
  <p:sldIdLst>
    <p:sldId xmlns:r="http://schemas.openxmlformats.org/officeDocument/2006/relationships" id="256" r:id="Rdd0249c5ceb64698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e2d95b03a34806" /><Relationship Type="http://schemas.openxmlformats.org/officeDocument/2006/relationships/slideMaster" Target="/ppt/slideMasters/slideMaster1.xml" Id="Rc146e3e52e8645dd" /><Relationship Type="http://schemas.openxmlformats.org/officeDocument/2006/relationships/notesMaster" Target="/ppt/notesMasters/notesMaster1.xml" Id="Rf42f2209f02443fe" /><Relationship Type="http://schemas.openxmlformats.org/officeDocument/2006/relationships/presProps" Target="/ppt/presProps.xml" Id="R941b97229cd143e9" /><Relationship Type="http://schemas.openxmlformats.org/officeDocument/2006/relationships/tableStyles" Target="/ppt/tableStyles.xml" Id="Rfe6bfa8a0fb346ed" /><Relationship Type="http://schemas.openxmlformats.org/officeDocument/2006/relationships/slide" Target="/ppt/slides/slide1.xml" Id="Rdd0249c5ceb6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142765b1b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355ad637f3491f" /><Relationship Type="http://schemas.openxmlformats.org/officeDocument/2006/relationships/notesMaster" Target="/ppt/notesMasters/notesMaster1.xml" Id="Rb52c20a38fe7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5b8448a71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82ffee3ad463a" /><Relationship Type="http://schemas.openxmlformats.org/officeDocument/2006/relationships/slideLayout" Target="/ppt/slideLayouts/slideLayout1.xml" Id="R8cf04daa34e04e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f04daa34e04e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b4444749044a4" /><Relationship Type="http://schemas.openxmlformats.org/officeDocument/2006/relationships/image" Target="/ppt/media/image.png" Id="R1b3eb48a4e2f4f05" /><Relationship Type="http://schemas.openxmlformats.org/officeDocument/2006/relationships/image" Target="/ppt/media/image2.png" Id="Rbd8c2af6be034a02" /><Relationship Type="http://schemas.openxmlformats.org/officeDocument/2006/relationships/image" Target="/ppt/media/image3.png" Id="R6f90ece730134ae3" /><Relationship Type="http://schemas.openxmlformats.org/officeDocument/2006/relationships/notesSlide" Target="/ppt/notesSlides/notesSlide1.xml" Id="R368e1d9e4cd6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eb48a4e2f4f05"/>
          <a:stretch xmlns:a="http://schemas.openxmlformats.org/drawingml/2006/main"/>
        </p:blipFill>
        <p:spPr>
          <a:xfrm xmlns:a="http://schemas.openxmlformats.org/drawingml/2006/main">
            <a:off x="6934200" y="1333334"/>
            <a:ext cx="2762250" cy="1581482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c2af6be034a02"/>
          <a:stretch xmlns:a="http://schemas.openxmlformats.org/drawingml/2006/main"/>
        </p:blipFill>
        <p:spPr>
          <a:xfrm xmlns:a="http://schemas.openxmlformats.org/drawingml/2006/main">
            <a:off x="940336" y="323850"/>
            <a:ext cx="2196027" cy="1257300"/>
          </a:xfrm>
          <a:prstGeom xmlns:a="http://schemas.openxmlformats.org/drawingml/2006/main" prst="rect">
            <a:avLst/>
          </a:prstGeom>
        </p:spPr>
      </p:pic>
      <p:sp>
        <p:nvSpPr>
          <p:cNvPr id="3" name="header">
            <a:extLst xmlns:a="http://schemas.openxmlformats.org/drawingml/2006/main">
              <a:ext uri="{FF2B5EF4-FFF2-40B4-BE49-F238E27FC236}">
                <a16:creationId xmlns:a16="http://schemas.microsoft.com/office/drawing/2014/main" id="{CAD95EFD-0373-465E-B13A-823E1454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F2041"/>
                </a:solidFill>
              </a:defRPr>
            </a:pPr>
            <a:r>
              <a:rPr sz="1275" b="1">
                <a:solidFill>
                  <a:srgbClr val="1F2041"/>
                </a:solidFill>
              </a:rPr>
              <a:t>CLASSROOM SCIENCE INVESTIGATION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B1983C97-FCA4-4DB2-B018-8C0EE7F9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041"/>
                </a:solidFill>
              </a:defRPr>
            </a:pPr>
            <a:r>
              <a:rPr sz="3150" b="1">
                <a:solidFill>
                  <a:srgbClr val="1F2041"/>
                </a:solidFill>
              </a:rPr>
              <a:t>CSI-001 | Classroom Science Investigation</a:t>
            </a:r>
          </a:p>
        </p:txBody>
      </p:sp>
      <p:sp>
        <p:nvSpPr>
          <p:cNvPr id="5" name="case-title">
            <a:extLst xmlns:a="http://schemas.openxmlformats.org/drawingml/2006/main">
              <a:ext uri="{FF2B5EF4-FFF2-40B4-BE49-F238E27FC236}">
                <a16:creationId xmlns:a16="http://schemas.microsoft.com/office/drawing/2014/main" id="{F244EAE3-89D8-4EDF-B280-1CF027A9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2041"/>
                </a:solidFill>
              </a:defRPr>
            </a:pPr>
            <a:r>
              <a:rPr sz="2625" b="1">
                <a:solidFill>
                  <a:srgbClr val="1F2041"/>
                </a:solidFill>
              </a:rPr>
              <a:t>L'orologio del museo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A0E97D1A-8A6D-42B7-874B-B3C8734F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E63"/>
                </a:solidFill>
              </a:defRPr>
            </a:pPr>
            <a:r>
              <a:rPr sz="1500" b="0">
                <a:solidFill>
                  <a:srgbClr val="2B2E63"/>
                </a:solidFill>
              </a:rPr>
              <a:t>L'antico orologio a pendolo del museo ha iniziato a perdere minuti. Il meccanismo sembra intatto: qualcosa nella scena potrebbe aver cambiato il ritmo del pendolo.</a:t>
            </a:r>
          </a:p>
        </p:txBody>
      </p:sp>
      <p:sp>
        <p:nvSpPr>
          <p:cNvPr id="7" name="card-Scenario">
            <a:extLst xmlns:a="http://schemas.openxmlformats.org/drawingml/2006/main">
              <a:ext uri="{FF2B5EF4-FFF2-40B4-BE49-F238E27FC236}">
                <a16:creationId xmlns:a16="http://schemas.microsoft.com/office/drawing/2014/main" id="{B3C5C4A8-14DB-4D88-86C7-2A5399B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286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8" name="band-Scenario">
            <a:extLst xmlns:a="http://schemas.openxmlformats.org/drawingml/2006/main">
              <a:ext uri="{FF2B5EF4-FFF2-40B4-BE49-F238E27FC236}">
                <a16:creationId xmlns:a16="http://schemas.microsoft.com/office/drawing/2014/main" id="{85975D14-E564-41DB-9F6D-293833EE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28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9" name="title-Scenario">
            <a:extLst xmlns:a="http://schemas.openxmlformats.org/drawingml/2006/main">
              <a:ext uri="{FF2B5EF4-FFF2-40B4-BE49-F238E27FC236}">
                <a16:creationId xmlns:a16="http://schemas.microsoft.com/office/drawing/2014/main" id="{40A0732E-A1B9-43B7-AC0E-9A8076B8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041"/>
                </a:solidFill>
              </a:defRPr>
            </a:pPr>
            <a:r>
              <a:rPr sz="1875" b="1">
                <a:solidFill>
                  <a:srgbClr val="1F2041"/>
                </a:solidFill>
              </a:rPr>
              <a:t>Scenario</a:t>
            </a:r>
          </a:p>
        </p:txBody>
      </p:sp>
      <p:sp>
        <p:nvSpPr>
          <p:cNvPr id="10" name="body-Scenario">
            <a:extLst xmlns:a="http://schemas.openxmlformats.org/drawingml/2006/main">
              <a:ext uri="{FF2B5EF4-FFF2-40B4-BE49-F238E27FC236}">
                <a16:creationId xmlns:a16="http://schemas.microsoft.com/office/drawing/2014/main" id="{55B15A8D-AEAA-4394-A19D-4B768846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379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E63"/>
                </a:solidFill>
              </a:defRPr>
            </a:pPr>
            <a:r>
              <a:rPr sz="1275" b="0">
                <a:solidFill>
                  <a:srgbClr val="2B2E63"/>
                </a:solidFill>
              </a:rPr>
              <a:t>Alle 9:00 la curatrice scopre che l'orologio segna 12 minuti in meno. Intorno alla cassa compaiono oggetti e segni lasciati dall'allestimento.</a:t>
            </a:r>
          </a:p>
        </p:txBody>
      </p:sp>
      <p:sp>
        <p:nvSpPr>
          <p:cNvPr id="11" name="card-Pista scientifica">
            <a:extLst xmlns:a="http://schemas.openxmlformats.org/drawingml/2006/main">
              <a:ext uri="{FF2B5EF4-FFF2-40B4-BE49-F238E27FC236}">
                <a16:creationId xmlns:a16="http://schemas.microsoft.com/office/drawing/2014/main" id="{5722D784-7C33-4B99-882B-2191DC6E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4810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12" name="band-Pista scientifica">
            <a:extLst xmlns:a="http://schemas.openxmlformats.org/drawingml/2006/main">
              <a:ext uri="{FF2B5EF4-FFF2-40B4-BE49-F238E27FC236}">
                <a16:creationId xmlns:a16="http://schemas.microsoft.com/office/drawing/2014/main" id="{93FD393E-4163-4A1B-9964-5DB28786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4810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13" name="title-Pista scientifica">
            <a:extLst xmlns:a="http://schemas.openxmlformats.org/drawingml/2006/main">
              <a:ext uri="{FF2B5EF4-FFF2-40B4-BE49-F238E27FC236}">
                <a16:creationId xmlns:a16="http://schemas.microsoft.com/office/drawing/2014/main" id="{5705E49F-0E1F-4103-BC5B-333E4EE7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4314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041"/>
                </a:solidFill>
              </a:defRPr>
            </a:pPr>
            <a:r>
              <a:rPr sz="1875" b="1">
                <a:solidFill>
                  <a:srgbClr val="1F2041"/>
                </a:solidFill>
              </a:rPr>
              <a:t>Pista scientifica</a:t>
            </a:r>
          </a:p>
        </p:txBody>
      </p:sp>
      <p:sp>
        <p:nvSpPr>
          <p:cNvPr id="14" name="body-Pista scientifica">
            <a:extLst xmlns:a="http://schemas.openxmlformats.org/drawingml/2006/main">
              <a:ext uri="{FF2B5EF4-FFF2-40B4-BE49-F238E27FC236}">
                <a16:creationId xmlns:a16="http://schemas.microsoft.com/office/drawing/2014/main" id="{8E3669BF-EA97-4127-A715-6708CC4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4314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E63"/>
                </a:solidFill>
              </a:defRPr>
            </a:pPr>
            <a:r>
              <a:rPr sz="1275" b="0">
                <a:solidFill>
                  <a:srgbClr val="2B2E63"/>
                </a:solidFill>
              </a:rPr>
              <a:t>Un pendolo puo' sembrare semplice, ma il suo ritmo dipende da alcune condizioni precise. Gli indizi aiutano a capire quale cambiamento e' davvero rilevante.</a:t>
            </a:r>
          </a:p>
        </p:txBody>
      </p:sp>
      <p:sp>
        <p:nvSpPr>
          <p:cNvPr id="15" name="clues-title">
            <a:extLst xmlns:a="http://schemas.openxmlformats.org/drawingml/2006/main">
              <a:ext uri="{FF2B5EF4-FFF2-40B4-BE49-F238E27FC236}">
                <a16:creationId xmlns:a16="http://schemas.microsoft.com/office/drawing/2014/main" id="{08F16249-4FC0-44D4-A9C7-183A443D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041"/>
                </a:solidFill>
              </a:defRPr>
            </a:pPr>
            <a:r>
              <a:rPr sz="2025" b="1">
                <a:solidFill>
                  <a:srgbClr val="1F2041"/>
                </a:solidFill>
              </a:rPr>
              <a:t>Indizi sul banco</a:t>
            </a:r>
          </a:p>
        </p:txBody>
      </p:sp>
      <p:sp>
        <p:nvSpPr>
          <p:cNvPr id="16" name="clue-Ritardo">
            <a:extLst xmlns:a="http://schemas.openxmlformats.org/drawingml/2006/main">
              <a:ext uri="{FF2B5EF4-FFF2-40B4-BE49-F238E27FC236}">
                <a16:creationId xmlns:a16="http://schemas.microsoft.com/office/drawing/2014/main" id="{D5E699E0-275B-4158-808E-F0BDA681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17" name="clue-band-Ritardo">
            <a:extLst xmlns:a="http://schemas.openxmlformats.org/drawingml/2006/main">
              <a:ext uri="{FF2B5EF4-FFF2-40B4-BE49-F238E27FC236}">
                <a16:creationId xmlns:a16="http://schemas.microsoft.com/office/drawing/2014/main" id="{E3B4681E-30E5-441A-86A1-488142F6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18" name="clue-label-Ritardo">
            <a:extLst xmlns:a="http://schemas.openxmlformats.org/drawingml/2006/main">
              <a:ext uri="{FF2B5EF4-FFF2-40B4-BE49-F238E27FC236}">
                <a16:creationId xmlns:a16="http://schemas.microsoft.com/office/drawing/2014/main" id="{128460E5-88E1-47DF-843D-31B310DD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Ritardo</a:t>
            </a:r>
          </a:p>
        </p:txBody>
      </p:sp>
      <p:sp>
        <p:nvSpPr>
          <p:cNvPr id="19" name="clue-body-Ritardo">
            <a:extLst xmlns:a="http://schemas.openxmlformats.org/drawingml/2006/main">
              <a:ext uri="{FF2B5EF4-FFF2-40B4-BE49-F238E27FC236}">
                <a16:creationId xmlns:a16="http://schemas.microsoft.com/office/drawing/2014/main" id="{27A30D0C-B12C-4131-8D67-0A115F5E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l'orologio segna 12 minuti in meno</a:t>
            </a:r>
          </a:p>
        </p:txBody>
      </p:sp>
      <p:sp>
        <p:nvSpPr>
          <p:cNvPr id="20" name="clue-Filo">
            <a:extLst xmlns:a="http://schemas.openxmlformats.org/drawingml/2006/main">
              <a:ext uri="{FF2B5EF4-FFF2-40B4-BE49-F238E27FC236}">
                <a16:creationId xmlns:a16="http://schemas.microsoft.com/office/drawing/2014/main" id="{6FC600FE-821C-4FC9-9BBF-4F35CE65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1" name="clue-band-Filo">
            <a:extLst xmlns:a="http://schemas.openxmlformats.org/drawingml/2006/main">
              <a:ext uri="{FF2B5EF4-FFF2-40B4-BE49-F238E27FC236}">
                <a16:creationId xmlns:a16="http://schemas.microsoft.com/office/drawing/2014/main" id="{3337A84B-F894-4FB3-85A9-D1C6E4B5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22" name="clue-label-Filo">
            <a:extLst xmlns:a="http://schemas.openxmlformats.org/drawingml/2006/main">
              <a:ext uri="{FF2B5EF4-FFF2-40B4-BE49-F238E27FC236}">
                <a16:creationId xmlns:a16="http://schemas.microsoft.com/office/drawing/2014/main" id="{D334803A-3146-4962-B1B2-DA26AF3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BEA"/>
                </a:solidFill>
              </a:defRPr>
            </a:pPr>
            <a:r>
              <a:rPr sz="1013" b="1">
                <a:solidFill>
                  <a:srgbClr val="FFFBEA"/>
                </a:solidFill>
              </a:rPr>
              <a:t>Filo</a:t>
            </a:r>
          </a:p>
        </p:txBody>
      </p:sp>
      <p:sp>
        <p:nvSpPr>
          <p:cNvPr id="23" name="clue-body-Filo">
            <a:extLst xmlns:a="http://schemas.openxmlformats.org/drawingml/2006/main">
              <a:ext uri="{FF2B5EF4-FFF2-40B4-BE49-F238E27FC236}">
                <a16:creationId xmlns:a16="http://schemas.microsoft.com/office/drawing/2014/main" id="{234CEAE2-49E9-4318-A5F0-0DEF8B28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nodi e tacche a distanze diverse</a:t>
            </a:r>
          </a:p>
        </p:txBody>
      </p:sp>
      <p:sp>
        <p:nvSpPr>
          <p:cNvPr id="24" name="clue-Pesetti">
            <a:extLst xmlns:a="http://schemas.openxmlformats.org/drawingml/2006/main">
              <a:ext uri="{FF2B5EF4-FFF2-40B4-BE49-F238E27FC236}">
                <a16:creationId xmlns:a16="http://schemas.microsoft.com/office/drawing/2014/main" id="{9EDA2297-8CF1-440D-BA46-322986B6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5" name="clue-band-Pesetti">
            <a:extLst xmlns:a="http://schemas.openxmlformats.org/drawingml/2006/main">
              <a:ext uri="{FF2B5EF4-FFF2-40B4-BE49-F238E27FC236}">
                <a16:creationId xmlns:a16="http://schemas.microsoft.com/office/drawing/2014/main" id="{71653417-95B8-4038-A967-7F8FD46C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26" name="clue-label-Pesetti">
            <a:extLst xmlns:a="http://schemas.openxmlformats.org/drawingml/2006/main">
              <a:ext uri="{FF2B5EF4-FFF2-40B4-BE49-F238E27FC236}">
                <a16:creationId xmlns:a16="http://schemas.microsoft.com/office/drawing/2014/main" id="{BA665783-42A6-4D8A-9C1C-0DAD7C60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Pesetti</a:t>
            </a:r>
          </a:p>
        </p:txBody>
      </p:sp>
      <p:sp>
        <p:nvSpPr>
          <p:cNvPr id="27" name="clue-body-Pesetti">
            <a:extLst xmlns:a="http://schemas.openxmlformats.org/drawingml/2006/main">
              <a:ext uri="{FF2B5EF4-FFF2-40B4-BE49-F238E27FC236}">
                <a16:creationId xmlns:a16="http://schemas.microsoft.com/office/drawing/2014/main" id="{639D14C2-153C-4505-B98F-AE4912B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piccoli pesi metallici vicino alla cassa</a:t>
            </a:r>
          </a:p>
        </p:txBody>
      </p:sp>
      <p:sp>
        <p:nvSpPr>
          <p:cNvPr id="28" name="clue-Testimoni">
            <a:extLst xmlns:a="http://schemas.openxmlformats.org/drawingml/2006/main">
              <a:ext uri="{FF2B5EF4-FFF2-40B4-BE49-F238E27FC236}">
                <a16:creationId xmlns:a16="http://schemas.microsoft.com/office/drawing/2014/main" id="{F7809BD2-D715-4848-9913-8456B72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9" name="clue-band-Testimoni">
            <a:extLst xmlns:a="http://schemas.openxmlformats.org/drawingml/2006/main">
              <a:ext uri="{FF2B5EF4-FFF2-40B4-BE49-F238E27FC236}">
                <a16:creationId xmlns:a16="http://schemas.microsoft.com/office/drawing/2014/main" id="{6FF758A2-A50F-42FD-951D-7C9F6798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30" name="clue-label-Testimoni">
            <a:extLst xmlns:a="http://schemas.openxmlformats.org/drawingml/2006/main">
              <a:ext uri="{FF2B5EF4-FFF2-40B4-BE49-F238E27FC236}">
                <a16:creationId xmlns:a16="http://schemas.microsoft.com/office/drawing/2014/main" id="{6E7665BE-4203-4F2F-AF44-1B69DF91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BEA"/>
                </a:solidFill>
              </a:defRPr>
            </a:pPr>
            <a:r>
              <a:rPr sz="1013" b="1">
                <a:solidFill>
                  <a:srgbClr val="FFFBEA"/>
                </a:solidFill>
              </a:rPr>
              <a:t>Testimoni</a:t>
            </a:r>
          </a:p>
        </p:txBody>
      </p:sp>
      <p:sp>
        <p:nvSpPr>
          <p:cNvPr id="31" name="clue-body-Testimoni">
            <a:extLst xmlns:a="http://schemas.openxmlformats.org/drawingml/2006/main">
              <a:ext uri="{FF2B5EF4-FFF2-40B4-BE49-F238E27FC236}">
                <a16:creationId xmlns:a16="http://schemas.microsoft.com/office/drawing/2014/main" id="{30F2D782-A244-4B5B-86D1-1DFC7339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ticchettio piu' lento e angoli piccoli</a:t>
            </a:r>
          </a:p>
        </p:txBody>
      </p:sp>
      <p:sp>
        <p:nvSpPr>
          <p:cNvPr id="32" name="experiment-box">
            <a:extLst xmlns:a="http://schemas.openxmlformats.org/drawingml/2006/main">
              <a:ext uri="{FF2B5EF4-FFF2-40B4-BE49-F238E27FC236}">
                <a16:creationId xmlns:a16="http://schemas.microsoft.com/office/drawing/2014/main" id="{65101CE2-C4BC-44A2-B18D-DB984C9B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0"/>
            <a:ext cx="9477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3335">
            <a:solidFill>
              <a:srgbClr val="1F2041"/>
            </a:solidFill>
            <a:prstDash val="solid"/>
          </a:ln>
        </p:spPr>
      </p:sp>
      <p:sp>
        <p:nvSpPr>
          <p:cNvPr id="33" name="experiment-title">
            <a:extLst xmlns:a="http://schemas.openxmlformats.org/drawingml/2006/main">
              <a:ext uri="{FF2B5EF4-FFF2-40B4-BE49-F238E27FC236}">
                <a16:creationId xmlns:a16="http://schemas.microsoft.com/office/drawing/2014/main" id="{C6598F69-4D92-441C-AE07-689E61A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448800"/>
            <a:ext cx="890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041"/>
                </a:solidFill>
              </a:defRPr>
            </a:pPr>
            <a:r>
              <a:rPr sz="1800" b="1">
                <a:solidFill>
                  <a:srgbClr val="1F2041"/>
                </a:solidFill>
              </a:rPr>
              <a:t>Il banco di indagine</a:t>
            </a:r>
          </a:p>
        </p:txBody>
      </p:sp>
      <p:sp>
        <p:nvSpPr>
          <p:cNvPr id="34" name="clue-Filo">
            <a:extLst xmlns:a="http://schemas.openxmlformats.org/drawingml/2006/main">
              <a:ext uri="{FF2B5EF4-FFF2-40B4-BE49-F238E27FC236}">
                <a16:creationId xmlns:a16="http://schemas.microsoft.com/office/drawing/2014/main" id="{98A6981C-81A3-4961-87E1-13BC4D78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906000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35" name="clue-band-Filo">
            <a:extLst xmlns:a="http://schemas.openxmlformats.org/drawingml/2006/main">
              <a:ext uri="{FF2B5EF4-FFF2-40B4-BE49-F238E27FC236}">
                <a16:creationId xmlns:a16="http://schemas.microsoft.com/office/drawing/2014/main" id="{9C3B2AEB-BD66-4443-B162-699A46CE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906000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36" name="clue-label-Filo">
            <a:extLst xmlns:a="http://schemas.openxmlformats.org/drawingml/2006/main">
              <a:ext uri="{FF2B5EF4-FFF2-40B4-BE49-F238E27FC236}">
                <a16:creationId xmlns:a16="http://schemas.microsoft.com/office/drawing/2014/main" id="{008A1288-64A0-47AE-8656-ACC09446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998220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Filo</a:t>
            </a:r>
          </a:p>
        </p:txBody>
      </p:sp>
      <p:sp>
        <p:nvSpPr>
          <p:cNvPr id="37" name="clue-body-Filo">
            <a:extLst xmlns:a="http://schemas.openxmlformats.org/drawingml/2006/main">
              <a:ext uri="{FF2B5EF4-FFF2-40B4-BE49-F238E27FC236}">
                <a16:creationId xmlns:a16="http://schemas.microsoft.com/office/drawing/2014/main" id="{40F20A27-005F-4249-B868-D2EFE711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03155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nodi e tacche a distanze diverse</a:t>
            </a:r>
          </a:p>
        </p:txBody>
      </p:sp>
      <p:sp>
        <p:nvSpPr>
          <p:cNvPr id="38" name="clue-Archi">
            <a:extLst xmlns:a="http://schemas.openxmlformats.org/drawingml/2006/main">
              <a:ext uri="{FF2B5EF4-FFF2-40B4-BE49-F238E27FC236}">
                <a16:creationId xmlns:a16="http://schemas.microsoft.com/office/drawing/2014/main" id="{27BF6B55-9A01-4D24-B024-BD5770EF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9906000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39" name="clue-band-Archi">
            <a:extLst xmlns:a="http://schemas.openxmlformats.org/drawingml/2006/main">
              <a:ext uri="{FF2B5EF4-FFF2-40B4-BE49-F238E27FC236}">
                <a16:creationId xmlns:a16="http://schemas.microsoft.com/office/drawing/2014/main" id="{483074F1-0CC6-4D13-A50A-F762C263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9906000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40" name="clue-label-Archi">
            <a:extLst xmlns:a="http://schemas.openxmlformats.org/drawingml/2006/main">
              <a:ext uri="{FF2B5EF4-FFF2-40B4-BE49-F238E27FC236}">
                <a16:creationId xmlns:a16="http://schemas.microsoft.com/office/drawing/2014/main" id="{57503BA3-2123-442C-B4DD-FA1212C2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998220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Archi</a:t>
            </a:r>
          </a:p>
        </p:txBody>
      </p:sp>
      <p:sp>
        <p:nvSpPr>
          <p:cNvPr id="41" name="clue-body-Archi">
            <a:extLst xmlns:a="http://schemas.openxmlformats.org/drawingml/2006/main">
              <a:ext uri="{FF2B5EF4-FFF2-40B4-BE49-F238E27FC236}">
                <a16:creationId xmlns:a16="http://schemas.microsoft.com/office/drawing/2014/main" id="{66C21D3B-9F57-4F57-A0D1-1BEA938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03155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posizioni di partenza segnate sul banco</a:t>
            </a:r>
          </a:p>
        </p:txBody>
      </p:sp>
      <p:sp>
        <p:nvSpPr>
          <p:cNvPr id="42" name="support">
            <a:extLst xmlns:a="http://schemas.openxmlformats.org/drawingml/2006/main">
              <a:ext uri="{FF2B5EF4-FFF2-40B4-BE49-F238E27FC236}">
                <a16:creationId xmlns:a16="http://schemas.microsoft.com/office/drawing/2014/main" id="{FE756A96-31E2-4C9C-B07A-68F2647D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1325225"/>
            <a:ext cx="123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43" name="string-long">
            <a:extLst xmlns:a="http://schemas.openxmlformats.org/drawingml/2006/main">
              <a:ext uri="{FF2B5EF4-FFF2-40B4-BE49-F238E27FC236}">
                <a16:creationId xmlns:a16="http://schemas.microsoft.com/office/drawing/2014/main" id="{07528A12-C400-4B73-A002-E90576BF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1382375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44" name="bob">
            <a:extLst xmlns:a="http://schemas.openxmlformats.org/drawingml/2006/main">
              <a:ext uri="{FF2B5EF4-FFF2-40B4-BE49-F238E27FC236}">
                <a16:creationId xmlns:a16="http://schemas.microsoft.com/office/drawing/2014/main" id="{50CC8193-383E-4AF3-BB83-214BEF62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31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11430">
            <a:solidFill>
              <a:srgbClr val="1F2041"/>
            </a:solidFill>
            <a:prstDash val="solid"/>
          </a:ln>
        </p:spPr>
      </p:sp>
      <p:sp>
        <p:nvSpPr>
          <p:cNvPr id="45" name="angle-arc">
            <a:extLst xmlns:a="http://schemas.openxmlformats.org/drawingml/2006/main">
              <a:ext uri="{FF2B5EF4-FFF2-40B4-BE49-F238E27FC236}">
                <a16:creationId xmlns:a16="http://schemas.microsoft.com/office/drawing/2014/main" id="{6C3BCA13-2CBD-4F9F-8EFE-77AF9318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1811000"/>
            <a:ext cx="1333500" cy="762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FB300"/>
            </a:solidFill>
            <a:prstDash val="solid"/>
          </a:ln>
        </p:spPr>
      </p:sp>
      <p:sp>
        <p:nvSpPr>
          <p:cNvPr id="46" name="pendulum-label">
            <a:extLst xmlns:a="http://schemas.openxmlformats.org/drawingml/2006/main">
              <a:ext uri="{FF2B5EF4-FFF2-40B4-BE49-F238E27FC236}">
                <a16:creationId xmlns:a16="http://schemas.microsoft.com/office/drawing/2014/main" id="{AA8A2971-B30D-455E-85B2-D4B0F2A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14585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2E63"/>
                </a:solidFill>
              </a:defRPr>
            </a:pPr>
            <a:r>
              <a:rPr sz="938" b="1">
                <a:solidFill>
                  <a:srgbClr val="2B2E63"/>
                </a:solidFill>
              </a:rPr>
              <a:t>filo regolabile</a:t>
            </a:r>
          </a:p>
        </p:txBody>
      </p:sp>
      <p:sp>
        <p:nvSpPr>
          <p:cNvPr id="47" name="weight-0">
            <a:extLst xmlns:a="http://schemas.openxmlformats.org/drawingml/2006/main">
              <a:ext uri="{FF2B5EF4-FFF2-40B4-BE49-F238E27FC236}">
                <a16:creationId xmlns:a16="http://schemas.microsoft.com/office/drawing/2014/main" id="{4AAF1379-5B16-462A-B8AD-3AFA7D09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160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9525">
            <a:solidFill>
              <a:srgbClr val="1F2041"/>
            </a:solidFill>
            <a:prstDash val="solid"/>
          </a:ln>
        </p:spPr>
      </p:sp>
      <p:sp>
        <p:nvSpPr>
          <p:cNvPr id="48" name="weight-1">
            <a:extLst xmlns:a="http://schemas.openxmlformats.org/drawingml/2006/main">
              <a:ext uri="{FF2B5EF4-FFF2-40B4-BE49-F238E27FC236}">
                <a16:creationId xmlns:a16="http://schemas.microsoft.com/office/drawing/2014/main" id="{5336D717-FCAE-4838-8801-3272CF79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60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9525">
            <a:solidFill>
              <a:srgbClr val="1F2041"/>
            </a:solidFill>
            <a:prstDash val="solid"/>
          </a:ln>
        </p:spPr>
      </p:sp>
      <p:sp>
        <p:nvSpPr>
          <p:cNvPr id="49" name="weight-2">
            <a:extLst xmlns:a="http://schemas.openxmlformats.org/drawingml/2006/main">
              <a:ext uri="{FF2B5EF4-FFF2-40B4-BE49-F238E27FC236}">
                <a16:creationId xmlns:a16="http://schemas.microsoft.com/office/drawing/2014/main" id="{59ECE0AD-723E-4C4B-B154-7AD1A0E6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601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9525">
            <a:solidFill>
              <a:srgbClr val="1F2041"/>
            </a:solidFill>
            <a:prstDash val="solid"/>
          </a:ln>
        </p:spPr>
      </p:sp>
      <p:sp>
        <p:nvSpPr>
          <p:cNvPr id="50" name="weights-label">
            <a:extLst xmlns:a="http://schemas.openxmlformats.org/drawingml/2006/main">
              <a:ext uri="{FF2B5EF4-FFF2-40B4-BE49-F238E27FC236}">
                <a16:creationId xmlns:a16="http://schemas.microsoft.com/office/drawing/2014/main" id="{D2C335C7-1441-485A-BA74-29B3F81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2030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E63"/>
                </a:solidFill>
              </a:defRPr>
            </a:pPr>
            <a:r>
              <a:rPr sz="975" b="1">
                <a:solidFill>
                  <a:srgbClr val="2B2E63"/>
                </a:solidFill>
              </a:rPr>
              <a:t>pesetti</a:t>
            </a:r>
          </a:p>
        </p:txBody>
      </p:sp>
      <p:sp>
        <p:nvSpPr>
          <p:cNvPr id="51" name="flow-arrow">
            <a:extLst xmlns:a="http://schemas.openxmlformats.org/drawingml/2006/main">
              <a:ext uri="{FF2B5EF4-FFF2-40B4-BE49-F238E27FC236}">
                <a16:creationId xmlns:a16="http://schemas.microsoft.com/office/drawing/2014/main" id="{353EA7A9-8930-4A1C-9A8A-332CE862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17157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52" name="stopwatch">
            <a:extLst xmlns:a="http://schemas.openxmlformats.org/drawingml/2006/main">
              <a:ext uri="{FF2B5EF4-FFF2-40B4-BE49-F238E27FC236}">
                <a16:creationId xmlns:a16="http://schemas.microsoft.com/office/drawing/2014/main" id="{F00FE645-726D-4253-AB14-274DA0F2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1334750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A"/>
          </a:solidFill>
          <a:ln xmlns:a="http://schemas.openxmlformats.org/drawingml/2006/main" w="14288">
            <a:solidFill>
              <a:srgbClr val="2B2E63"/>
            </a:solidFill>
            <a:prstDash val="solid"/>
          </a:ln>
        </p:spPr>
      </p:sp>
      <p:sp>
        <p:nvSpPr>
          <p:cNvPr id="53" name="watch-button">
            <a:extLst xmlns:a="http://schemas.openxmlformats.org/drawingml/2006/main">
              <a:ext uri="{FF2B5EF4-FFF2-40B4-BE49-F238E27FC236}">
                <a16:creationId xmlns:a16="http://schemas.microsoft.com/office/drawing/2014/main" id="{A08384CB-BB36-4F95-BCFC-371BCBB9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120" y="11182350"/>
            <a:ext cx="10858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54" name="watch-hand-1">
            <a:extLst xmlns:a="http://schemas.openxmlformats.org/drawingml/2006/main">
              <a:ext uri="{FF2B5EF4-FFF2-40B4-BE49-F238E27FC236}">
                <a16:creationId xmlns:a16="http://schemas.microsoft.com/office/drawing/2014/main" id="{ABAD6DEB-9CD0-4240-86E6-CD443F4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40000">
            <a:off x="6348413" y="11768138"/>
            <a:ext cx="25336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55" name="watch-hand-2">
            <a:extLst xmlns:a="http://schemas.openxmlformats.org/drawingml/2006/main">
              <a:ext uri="{FF2B5EF4-FFF2-40B4-BE49-F238E27FC236}">
                <a16:creationId xmlns:a16="http://schemas.microsoft.com/office/drawing/2014/main" id="{D1C56F21-CCC5-4056-B8DA-6BC4CEE2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11588115"/>
            <a:ext cx="38100" cy="199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56" name="watch-label">
            <a:extLst xmlns:a="http://schemas.openxmlformats.org/drawingml/2006/main">
              <a:ext uri="{FF2B5EF4-FFF2-40B4-BE49-F238E27FC236}">
                <a16:creationId xmlns:a16="http://schemas.microsoft.com/office/drawing/2014/main" id="{D0981F55-BF3D-4E75-9380-AB8646F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23825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2E63"/>
                </a:solidFill>
              </a:defRPr>
            </a:pPr>
            <a:r>
              <a:rPr sz="975" b="1">
                <a:solidFill>
                  <a:srgbClr val="2B2E63"/>
                </a:solidFill>
              </a:rPr>
              <a:t>cronometro</a:t>
            </a:r>
          </a:p>
        </p:txBody>
      </p:sp>
      <p:sp>
        <p:nvSpPr>
          <p:cNvPr id="57" name="flow-arrow">
            <a:extLst xmlns:a="http://schemas.openxmlformats.org/drawingml/2006/main">
              <a:ext uri="{FF2B5EF4-FFF2-40B4-BE49-F238E27FC236}">
                <a16:creationId xmlns:a16="http://schemas.microsoft.com/office/drawing/2014/main" id="{65DBD746-BB60-4D35-8BE0-FB388FC9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17157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58" name="graph-frame">
            <a:extLst xmlns:a="http://schemas.openxmlformats.org/drawingml/2006/main">
              <a:ext uri="{FF2B5EF4-FFF2-40B4-BE49-F238E27FC236}">
                <a16:creationId xmlns:a16="http://schemas.microsoft.com/office/drawing/2014/main" id="{67418099-9755-4B14-9426-88CD6F06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1191875"/>
            <a:ext cx="20478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0478">
            <a:solidFill>
              <a:srgbClr val="2B2E63"/>
            </a:solidFill>
            <a:prstDash val="solid"/>
          </a:ln>
        </p:spPr>
      </p:sp>
      <p:sp>
        <p:nvSpPr>
          <p:cNvPr id="59" name="x-axis">
            <a:extLst xmlns:a="http://schemas.openxmlformats.org/drawingml/2006/main">
              <a:ext uri="{FF2B5EF4-FFF2-40B4-BE49-F238E27FC236}">
                <a16:creationId xmlns:a16="http://schemas.microsoft.com/office/drawing/2014/main" id="{AD052D61-E0E3-46A0-B0AF-49ACF97A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2315825"/>
            <a:ext cx="1362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60" name="y-axis">
            <a:extLst xmlns:a="http://schemas.openxmlformats.org/drawingml/2006/main">
              <a:ext uri="{FF2B5EF4-FFF2-40B4-BE49-F238E27FC236}">
                <a16:creationId xmlns:a16="http://schemas.microsoft.com/office/drawing/2014/main" id="{752887B7-4D16-4E9F-932A-D6B008B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1496675"/>
            <a:ext cx="285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61" name="length-period-line">
            <a:extLst xmlns:a="http://schemas.openxmlformats.org/drawingml/2006/main">
              <a:ext uri="{FF2B5EF4-FFF2-40B4-BE49-F238E27FC236}">
                <a16:creationId xmlns:a16="http://schemas.microsoft.com/office/drawing/2014/main" id="{388C0316-CA96-40F9-9D45-1C63CA80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81230">
            <a:off x="8420100" y="12144375"/>
            <a:ext cx="12999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2" name="period-point">
            <a:extLst xmlns:a="http://schemas.openxmlformats.org/drawingml/2006/main">
              <a:ext uri="{FF2B5EF4-FFF2-40B4-BE49-F238E27FC236}">
                <a16:creationId xmlns:a16="http://schemas.microsoft.com/office/drawing/2014/main" id="{452C834E-7D01-4E5A-B702-2905EDB2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197054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3" name="period-point">
            <a:extLst xmlns:a="http://schemas.openxmlformats.org/drawingml/2006/main">
              <a:ext uri="{FF2B5EF4-FFF2-40B4-BE49-F238E27FC236}">
                <a16:creationId xmlns:a16="http://schemas.microsoft.com/office/drawing/2014/main" id="{84D145D8-24FC-4F42-8001-C61D85E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555" y="1180766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4" name="period-point">
            <a:extLst xmlns:a="http://schemas.openxmlformats.org/drawingml/2006/main">
              <a:ext uri="{FF2B5EF4-FFF2-40B4-BE49-F238E27FC236}">
                <a16:creationId xmlns:a16="http://schemas.microsoft.com/office/drawing/2014/main" id="{E94EDCD7-4B43-4C24-9BA3-3A25DCAC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52" y="1166107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5" name="period-label">
            <a:extLst xmlns:a="http://schemas.openxmlformats.org/drawingml/2006/main">
              <a:ext uri="{FF2B5EF4-FFF2-40B4-BE49-F238E27FC236}">
                <a16:creationId xmlns:a16="http://schemas.microsoft.com/office/drawing/2014/main" id="{E7700FBE-78FF-4FE4-8001-483F9EBD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13633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B2E63"/>
                </a:solidFill>
              </a:defRPr>
            </a:pPr>
            <a:r>
              <a:rPr sz="825" b="0">
                <a:solidFill>
                  <a:srgbClr val="2B2E63"/>
                </a:solidFill>
              </a:rPr>
              <a:t>periodo</a:t>
            </a:r>
          </a:p>
        </p:txBody>
      </p:sp>
      <p:sp>
        <p:nvSpPr>
          <p:cNvPr id="66" name="length-label">
            <a:extLst xmlns:a="http://schemas.openxmlformats.org/drawingml/2006/main">
              <a:ext uri="{FF2B5EF4-FFF2-40B4-BE49-F238E27FC236}">
                <a16:creationId xmlns:a16="http://schemas.microsoft.com/office/drawing/2014/main" id="{28432A61-6504-41F3-A5F9-748C455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4301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B2E63"/>
                </a:solidFill>
              </a:defRPr>
            </a:pPr>
            <a:r>
              <a:rPr sz="825" b="0">
                <a:solidFill>
                  <a:srgbClr val="2B2E63"/>
                </a:solidFill>
              </a:rPr>
              <a:t>lunghezza</a:t>
            </a:r>
          </a:p>
        </p:txBody>
      </p:sp>
      <p:sp>
        <p:nvSpPr>
          <p:cNvPr id="67" name="experiment-caption">
            <a:extLst xmlns:a="http://schemas.openxmlformats.org/drawingml/2006/main">
              <a:ext uri="{FF2B5EF4-FFF2-40B4-BE49-F238E27FC236}">
                <a16:creationId xmlns:a16="http://schemas.microsoft.com/office/drawing/2014/main" id="{296473C0-51BC-42B6-89EA-D596A6D1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734800"/>
            <a:ext cx="867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E63"/>
                </a:solidFill>
              </a:defRPr>
            </a:pPr>
            <a:r>
              <a:rPr sz="1125" b="0">
                <a:solidFill>
                  <a:srgbClr val="2B2E63"/>
                </a:solidFill>
              </a:rPr>
              <a:t>Il ritmo dell'orologio lascia una traccia: alcuni cambiamenti contano, altri sono solo rumore.</a:t>
            </a:r>
          </a:p>
        </p:txBody>
      </p:sp>
      <p:sp>
        <p:nvSpPr>
          <p:cNvPr id="68" name="expected-box">
            <a:extLst xmlns:a="http://schemas.openxmlformats.org/drawingml/2006/main">
              <a:ext uri="{FF2B5EF4-FFF2-40B4-BE49-F238E27FC236}">
                <a16:creationId xmlns:a16="http://schemas.microsoft.com/office/drawing/2014/main" id="{AA3DBFEE-6836-47E6-86A9-845E6B77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0"/>
            <a:ext cx="542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69" name="expected-title">
            <a:extLst xmlns:a="http://schemas.openxmlformats.org/drawingml/2006/main">
              <a:ext uri="{FF2B5EF4-FFF2-40B4-BE49-F238E27FC236}">
                <a16:creationId xmlns:a16="http://schemas.microsoft.com/office/drawing/2014/main" id="{AC24FA42-F37A-4F3E-9CD8-287493F7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95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041"/>
                </a:solidFill>
              </a:defRPr>
            </a:pPr>
            <a:r>
              <a:rPr sz="1725" b="1">
                <a:solidFill>
                  <a:srgbClr val="1F2041"/>
                </a:solidFill>
              </a:rPr>
              <a:t>Risultato atteso</a:t>
            </a:r>
          </a:p>
        </p:txBody>
      </p:sp>
      <p:sp>
        <p:nvSpPr>
          <p:cNvPr id="70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F6EC477B-D0A4-4F7C-8630-94B0BFD2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4112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E63"/>
                </a:solidFill>
              </a:defRPr>
            </a:pPr>
            <a:r>
              <a:rPr sz="1200" b="0">
                <a:solidFill>
                  <a:srgbClr val="2B2E63"/>
                </a:solidFill>
              </a:rPr>
              <a:t>Il periodo cambia in modo chiaro quando cambia la lunghezza del filo. A parita' di lunghezza, piccoli angoli e pesi diversi non dovrebbero cambiare molto il ritmo.</a:t>
            </a:r>
          </a:p>
        </p:txBody>
      </p:sp>
      <p:sp>
        <p:nvSpPr>
          <p:cNvPr id="71" name="message-box">
            <a:extLst xmlns:a="http://schemas.openxmlformats.org/drawingml/2006/main">
              <a:ext uri="{FF2B5EF4-FFF2-40B4-BE49-F238E27FC236}">
                <a16:creationId xmlns:a16="http://schemas.microsoft.com/office/drawing/2014/main" id="{A50FF2E2-C7B7-4F69-82DC-CB1D086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668250"/>
            <a:ext cx="37052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11430">
            <a:solidFill>
              <a:srgbClr val="1F2041"/>
            </a:solidFill>
            <a:prstDash val="solid"/>
          </a:ln>
        </p:spPr>
      </p:sp>
      <p:sp>
        <p:nvSpPr>
          <p:cNvPr id="72" name="message-title">
            <a:extLst xmlns:a="http://schemas.openxmlformats.org/drawingml/2006/main">
              <a:ext uri="{FF2B5EF4-FFF2-40B4-BE49-F238E27FC236}">
                <a16:creationId xmlns:a16="http://schemas.microsoft.com/office/drawing/2014/main" id="{10380179-342A-4523-8704-E81DC4F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954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E548"/>
                </a:solidFill>
              </a:defRPr>
            </a:pPr>
            <a:r>
              <a:rPr sz="1725" b="1">
                <a:solidFill>
                  <a:srgbClr val="FFE548"/>
                </a:solidFill>
              </a:rPr>
              <a:t>Messaggio chiave</a:t>
            </a:r>
          </a:p>
        </p:txBody>
      </p:sp>
      <p:sp>
        <p:nvSpPr>
          <p:cNvPr id="73" name="message-body">
            <a:extLst xmlns:a="http://schemas.openxmlformats.org/drawingml/2006/main">
              <a:ext uri="{FF2B5EF4-FFF2-40B4-BE49-F238E27FC236}">
                <a16:creationId xmlns:a16="http://schemas.microsoft.com/office/drawing/2014/main" id="{5BA1BE8A-147A-4912-92DF-FC50A729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4112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BEA"/>
                </a:solidFill>
              </a:defRPr>
            </a:pPr>
            <a:r>
              <a:rPr sz="1200" b="0">
                <a:solidFill>
                  <a:srgbClr val="FFFBEA"/>
                </a:solidFill>
              </a:rPr>
              <a:t>Per risolvere un caso scientifico bisogna cambiare una cosa alla volta e cercare quale variabile lascia il segno piu' forte.</a:t>
            </a:r>
          </a:p>
        </p:txBody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0ece730134ae3"/>
          <a:stretch xmlns:a="http://schemas.openxmlformats.org/drawingml/2006/main"/>
        </p:blipFill>
        <p:spPr>
          <a:xfrm xmlns:a="http://schemas.openxmlformats.org/drawingml/2006/main">
            <a:off x="609600" y="14443092"/>
            <a:ext cx="1809750" cy="403190"/>
          </a:xfrm>
          <a:prstGeom xmlns:a="http://schemas.openxmlformats.org/drawingml/2006/main" prst="rect">
            <a:avLst/>
          </a:prstGeom>
        </p:spPr>
      </p:pic>
      <p:sp>
        <p:nvSpPr>
          <p:cNvPr id="75" name="eu-footer">
            <a:extLst xmlns:a="http://schemas.openxmlformats.org/drawingml/2006/main">
              <a:ext uri="{FF2B5EF4-FFF2-40B4-BE49-F238E27FC236}">
                <a16:creationId xmlns:a16="http://schemas.microsoft.com/office/drawing/2014/main" id="{C65D0B64-7C4C-4512-93A5-8DEC6E22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5732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B2E63"/>
                </a:solidFill>
              </a:defRPr>
            </a:pPr>
            <a:r>
              <a:rPr sz="863" b="0">
                <a:solidFill>
                  <a:srgbClr val="2B2E63"/>
                </a:solidFill>
              </a:rPr>
              <a:t>ERNEST is a European Researchers' Night project funded by the European Commission under the Marie Sklodowska-Curie Actions. GA 101305138</a:t>
            </a:r>
          </a:p>
        </p:txBody>
      </p:sp>
    </p:spTree>
    <p:extLst>
      <p:ext uri="{BB962C8B-B14F-4D97-AF65-F5344CB8AC3E}">
        <p14:creationId xmlns:p14="http://schemas.microsoft.com/office/powerpoint/2010/main" val="551867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2026-08-10T12:15:47.5150000Z</dcterms:created>
  <dcterms:modified xsi:type="dcterms:W3CDTF">2026-08-10T12:15:47.5150000Z</dcterms:modified>
</coreProperties>
</file>