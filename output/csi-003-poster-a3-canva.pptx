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67464f40c468f" /><Relationship Type="http://schemas.openxmlformats.org/officeDocument/2006/relationships/extended-properties" Target="/docProps/app.xml" Id="R5ef5daef7b2843c5" /><Relationship Type="http://schemas.openxmlformats.org/officeDocument/2006/relationships/officeDocument" Target="/ppt/presentation.xml" Id="R9879d7b5072945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43d236f2ad4f41"/>
  </p:sldMasterIdLst>
  <p:notesMasterIdLst>
    <p:notesMasterId xmlns:r="http://schemas.openxmlformats.org/officeDocument/2006/relationships" r:id="R9f6d3ab6b5174d88"/>
  </p:notesMasterIdLst>
  <p:sldIdLst>
    <p:sldId xmlns:r="http://schemas.openxmlformats.org/officeDocument/2006/relationships" id="256" r:id="R2a31588e33874de1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832deb0f341c4" /><Relationship Type="http://schemas.openxmlformats.org/officeDocument/2006/relationships/slideMaster" Target="/ppt/slideMasters/slideMaster1.xml" Id="Rc043d236f2ad4f41" /><Relationship Type="http://schemas.openxmlformats.org/officeDocument/2006/relationships/notesMaster" Target="/ppt/notesMasters/notesMaster1.xml" Id="R9f6d3ab6b5174d88" /><Relationship Type="http://schemas.openxmlformats.org/officeDocument/2006/relationships/presProps" Target="/ppt/presProps.xml" Id="R232ca051ecd84815" /><Relationship Type="http://schemas.openxmlformats.org/officeDocument/2006/relationships/tableStyles" Target="/ppt/tableStyles.xml" Id="R3adda922c18342ca" /><Relationship Type="http://schemas.openxmlformats.org/officeDocument/2006/relationships/slide" Target="/ppt/slides/slide1.xml" Id="R2a31588e3387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0f6986d9b44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26d03fdf846a0" /><Relationship Type="http://schemas.openxmlformats.org/officeDocument/2006/relationships/notesMaster" Target="/ppt/notesMasters/notesMaster1.xml" Id="R69529024541a48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7b30a6b7a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098e99da1148ed" /><Relationship Type="http://schemas.openxmlformats.org/officeDocument/2006/relationships/slideLayout" Target="/ppt/slideLayouts/slideLayout1.xml" Id="R107d77c43341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7d77c43341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46ec773a449db" /><Relationship Type="http://schemas.openxmlformats.org/officeDocument/2006/relationships/image" Target="/ppt/media/image.png" Id="Ra5e74bbac7614df8" /><Relationship Type="http://schemas.openxmlformats.org/officeDocument/2006/relationships/image" Target="/ppt/media/image2.png" Id="R185c27f92385467c" /><Relationship Type="http://schemas.openxmlformats.org/officeDocument/2006/relationships/image" Target="/ppt/media/image3.png" Id="Rb55dda06592945ff" /><Relationship Type="http://schemas.openxmlformats.org/officeDocument/2006/relationships/notesSlide" Target="/ppt/notesSlides/notesSlide1.xml" Id="R368f0d4dad2f4a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74bbac7614df8"/>
          <a:stretch xmlns:a="http://schemas.openxmlformats.org/drawingml/2006/main"/>
        </p:blipFill>
        <p:spPr>
          <a:xfrm xmlns:a="http://schemas.openxmlformats.org/drawingml/2006/main">
            <a:off x="6934200" y="1333334"/>
            <a:ext cx="2762250" cy="1581482"/>
          </a:xfrm>
          <a:prstGeom xmlns:a="http://schemas.openxmlformats.org/drawingml/2006/main" prst="rect">
            <a:avLst/>
          </a:prstGeom>
        </p:spPr>
      </p:pic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c27f92385467c"/>
          <a:stretch xmlns:a="http://schemas.openxmlformats.org/drawingml/2006/main"/>
        </p:blipFill>
        <p:spPr>
          <a:xfrm xmlns:a="http://schemas.openxmlformats.org/drawingml/2006/main">
            <a:off x="940336" y="323850"/>
            <a:ext cx="2196027" cy="1257300"/>
          </a:xfrm>
          <a:prstGeom xmlns:a="http://schemas.openxmlformats.org/drawingml/2006/main" prst="rect">
            <a:avLst/>
          </a:prstGeom>
        </p:spPr>
      </p:pic>
      <p:sp>
        <p:nvSpPr>
          <p:cNvPr id="3" name="header">
            <a:extLst xmlns:a="http://schemas.openxmlformats.org/drawingml/2006/main">
              <a:ext uri="{FF2B5EF4-FFF2-40B4-BE49-F238E27FC236}">
                <a16:creationId xmlns:a16="http://schemas.microsoft.com/office/drawing/2014/main" id="{77ED1C8C-9010-468B-8F75-3CED094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F2041"/>
                </a:solidFill>
              </a:defRPr>
            </a:pPr>
            <a:r>
              <a:rPr sz="1275" b="1">
                <a:solidFill>
                  <a:srgbClr val="1F2041"/>
                </a:solidFill>
              </a:rPr>
              <a:t>CLASSROOM SCIENCE INVESTIGATION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C1F760AA-C2F7-4695-BFB2-DF1291E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041"/>
                </a:solidFill>
              </a:defRPr>
            </a:pPr>
            <a:r>
              <a:rPr sz="3150" b="1">
                <a:solidFill>
                  <a:srgbClr val="1F2041"/>
                </a:solidFill>
              </a:rPr>
              <a:t>CSI-003 | Classroom Science Investigation</a:t>
            </a:r>
          </a:p>
        </p:txBody>
      </p:sp>
      <p:sp>
        <p:nvSpPr>
          <p:cNvPr id="5" name="case-title">
            <a:extLst xmlns:a="http://schemas.openxmlformats.org/drawingml/2006/main">
              <a:ext uri="{FF2B5EF4-FFF2-40B4-BE49-F238E27FC236}">
                <a16:creationId xmlns:a16="http://schemas.microsoft.com/office/drawing/2014/main" id="{C6769171-5E9D-4C1C-B222-795D3D11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2041"/>
                </a:solidFill>
              </a:defRPr>
            </a:pPr>
            <a:r>
              <a:rPr sz="2625" b="1">
                <a:solidFill>
                  <a:srgbClr val="1F2041"/>
                </a:solidFill>
              </a:rPr>
              <a:t>Caccia al bosone di Higgs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9CE1C2FD-39D7-4286-BE18-7DE057F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B2E63"/>
                </a:solidFill>
              </a:defRPr>
            </a:pPr>
            <a:r>
              <a:rPr sz="1500" b="0">
                <a:solidFill>
                  <a:srgbClr val="2B2E63"/>
                </a:solidFill>
              </a:rPr>
              <a:t>A LHC una particella nuova potrebbe essere apparsa per un istante e poi scomparsa. Restano solo le tracce della sua disintegrazione.</a:t>
            </a:r>
          </a:p>
        </p:txBody>
      </p:sp>
      <p:sp>
        <p:nvSpPr>
          <p:cNvPr id="7" name="card-Scenario">
            <a:extLst xmlns:a="http://schemas.openxmlformats.org/drawingml/2006/main">
              <a:ext uri="{FF2B5EF4-FFF2-40B4-BE49-F238E27FC236}">
                <a16:creationId xmlns:a16="http://schemas.microsoft.com/office/drawing/2014/main" id="{E7832296-D60E-4B89-B742-7F599EB2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8" name="band-Scenario">
            <a:extLst xmlns:a="http://schemas.openxmlformats.org/drawingml/2006/main">
              <a:ext uri="{FF2B5EF4-FFF2-40B4-BE49-F238E27FC236}">
                <a16:creationId xmlns:a16="http://schemas.microsoft.com/office/drawing/2014/main" id="{6EAC4254-FCBF-4811-9120-BAAC28CB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428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9" name="title-Scenario">
            <a:extLst xmlns:a="http://schemas.openxmlformats.org/drawingml/2006/main">
              <a:ext uri="{FF2B5EF4-FFF2-40B4-BE49-F238E27FC236}">
                <a16:creationId xmlns:a16="http://schemas.microsoft.com/office/drawing/2014/main" id="{A5363BEC-FE99-4159-AB59-1B040A95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Scenario</a:t>
            </a:r>
          </a:p>
        </p:txBody>
      </p:sp>
      <p:sp>
        <p:nvSpPr>
          <p:cNvPr id="10" name="body-Scenario">
            <a:extLst xmlns:a="http://schemas.openxmlformats.org/drawingml/2006/main">
              <a:ext uri="{FF2B5EF4-FFF2-40B4-BE49-F238E27FC236}">
                <a16:creationId xmlns:a16="http://schemas.microsoft.com/office/drawing/2014/main" id="{C85440AA-E5EA-4C25-A722-CADD395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3790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La sala di controllo di LHC riceve un dataset notturno. Una nota segnala una possibile traccia nascosta tra molti eventi ordinari.</a:t>
            </a:r>
          </a:p>
        </p:txBody>
      </p:sp>
      <p:sp>
        <p:nvSpPr>
          <p:cNvPr id="11" name="card-Pista scientifica">
            <a:extLst xmlns:a="http://schemas.openxmlformats.org/drawingml/2006/main">
              <a:ext uri="{FF2B5EF4-FFF2-40B4-BE49-F238E27FC236}">
                <a16:creationId xmlns:a16="http://schemas.microsoft.com/office/drawing/2014/main" id="{53504B9E-4B57-461F-9510-09169B9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12" name="band-Pista scientifica">
            <a:extLst xmlns:a="http://schemas.openxmlformats.org/drawingml/2006/main">
              <a:ext uri="{FF2B5EF4-FFF2-40B4-BE49-F238E27FC236}">
                <a16:creationId xmlns:a16="http://schemas.microsoft.com/office/drawing/2014/main" id="{D3E5D2DD-935D-4BC9-8A81-38062B97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4810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13" name="title-Pista scientifica">
            <a:extLst xmlns:a="http://schemas.openxmlformats.org/drawingml/2006/main">
              <a:ext uri="{FF2B5EF4-FFF2-40B4-BE49-F238E27FC236}">
                <a16:creationId xmlns:a16="http://schemas.microsoft.com/office/drawing/2014/main" id="{0B5B3EAF-F647-4D3A-97EF-D3FDFE7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4314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041"/>
                </a:solidFill>
              </a:defRPr>
            </a:pPr>
            <a:r>
              <a:rPr sz="1875" b="1">
                <a:solidFill>
                  <a:srgbClr val="1F2041"/>
                </a:solidFill>
              </a:rPr>
              <a:t>Pista scientifica</a:t>
            </a:r>
          </a:p>
        </p:txBody>
      </p:sp>
      <p:sp>
        <p:nvSpPr>
          <p:cNvPr id="14" name="body-Pista scientifica">
            <a:extLst xmlns:a="http://schemas.openxmlformats.org/drawingml/2006/main">
              <a:ext uri="{FF2B5EF4-FFF2-40B4-BE49-F238E27FC236}">
                <a16:creationId xmlns:a16="http://schemas.microsoft.com/office/drawing/2014/main" id="{4320B249-C037-4539-8A5E-36078E1B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24500"/>
            <a:ext cx="43148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B2E63"/>
                </a:solidFill>
              </a:defRPr>
            </a:pPr>
            <a:r>
              <a:rPr sz="1275" b="0">
                <a:solidFill>
                  <a:srgbClr val="2B2E63"/>
                </a:solidFill>
              </a:rPr>
              <a:t>La particella cercata e neutra: la carica si conserva. I canali sono quattro possibili modi di disintegrazione.</a:t>
            </a:r>
          </a:p>
        </p:txBody>
      </p:sp>
      <p:sp>
        <p:nvSpPr>
          <p:cNvPr id="15" name="clues-title">
            <a:extLst xmlns:a="http://schemas.openxmlformats.org/drawingml/2006/main">
              <a:ext uri="{FF2B5EF4-FFF2-40B4-BE49-F238E27FC236}">
                <a16:creationId xmlns:a16="http://schemas.microsoft.com/office/drawing/2014/main" id="{EDCB5B5E-FBFB-46EB-AB31-9AB539DF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2041"/>
                </a:solidFill>
              </a:defRPr>
            </a:pPr>
            <a:r>
              <a:rPr sz="2025" b="1">
                <a:solidFill>
                  <a:srgbClr val="1F2041"/>
                </a:solidFill>
              </a:rPr>
              <a:t>Indizi sul banco</a:t>
            </a:r>
          </a:p>
        </p:txBody>
      </p:sp>
      <p:sp>
        <p:nvSpPr>
          <p:cNvPr id="16" name="clue-4 canali">
            <a:extLst xmlns:a="http://schemas.openxmlformats.org/drawingml/2006/main">
              <a:ext uri="{FF2B5EF4-FFF2-40B4-BE49-F238E27FC236}">
                <a16:creationId xmlns:a16="http://schemas.microsoft.com/office/drawing/2014/main" id="{6E8D8C60-5F57-4E08-88E2-12B68C8D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17" name="clue-band-4 canali">
            <a:extLst xmlns:a="http://schemas.openxmlformats.org/drawingml/2006/main">
              <a:ext uri="{FF2B5EF4-FFF2-40B4-BE49-F238E27FC236}">
                <a16:creationId xmlns:a16="http://schemas.microsoft.com/office/drawing/2014/main" id="{A9A946AD-24C9-4741-BFDF-B75D731B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18" name="clue-label-4 canali">
            <a:extLst xmlns:a="http://schemas.openxmlformats.org/drawingml/2006/main">
              <a:ext uri="{FF2B5EF4-FFF2-40B4-BE49-F238E27FC236}">
                <a16:creationId xmlns:a16="http://schemas.microsoft.com/office/drawing/2014/main" id="{5C0B3084-3A8C-4C56-82C1-F682E0A0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4 canali</a:t>
            </a:r>
          </a:p>
        </p:txBody>
      </p:sp>
      <p:sp>
        <p:nvSpPr>
          <p:cNvPr id="19" name="clue-body-4 canali">
            <a:extLst xmlns:a="http://schemas.openxmlformats.org/drawingml/2006/main">
              <a:ext uri="{FF2B5EF4-FFF2-40B4-BE49-F238E27FC236}">
                <a16:creationId xmlns:a16="http://schemas.microsoft.com/office/drawing/2014/main" id="{6560336E-DD84-41C3-AF7B-165CF79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4mu, 2mu2e, 4e, 2 fotoni</a:t>
            </a:r>
          </a:p>
        </p:txBody>
      </p:sp>
      <p:sp>
        <p:nvSpPr>
          <p:cNvPr id="20" name="clue-Carica">
            <a:extLst xmlns:a="http://schemas.openxmlformats.org/drawingml/2006/main">
              <a:ext uri="{FF2B5EF4-FFF2-40B4-BE49-F238E27FC236}">
                <a16:creationId xmlns:a16="http://schemas.microsoft.com/office/drawing/2014/main" id="{97AB52A1-C1A3-41A5-9C8F-5AFE714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1" name="clue-band-Carica">
            <a:extLst xmlns:a="http://schemas.openxmlformats.org/drawingml/2006/main">
              <a:ext uri="{FF2B5EF4-FFF2-40B4-BE49-F238E27FC236}">
                <a16:creationId xmlns:a16="http://schemas.microsoft.com/office/drawing/2014/main" id="{ACEA36B3-17D6-4312-B0BF-7E9B8CFB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22" name="clue-label-Carica">
            <a:extLst xmlns:a="http://schemas.openxmlformats.org/drawingml/2006/main">
              <a:ext uri="{FF2B5EF4-FFF2-40B4-BE49-F238E27FC236}">
                <a16:creationId xmlns:a16="http://schemas.microsoft.com/office/drawing/2014/main" id="{DDC45CD9-9572-46B9-A98D-6F340C9A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Carica</a:t>
            </a:r>
          </a:p>
        </p:txBody>
      </p:sp>
      <p:sp>
        <p:nvSpPr>
          <p:cNvPr id="23" name="clue-body-Carica">
            <a:extLst xmlns:a="http://schemas.openxmlformats.org/drawingml/2006/main">
              <a:ext uri="{FF2B5EF4-FFF2-40B4-BE49-F238E27FC236}">
                <a16:creationId xmlns:a16="http://schemas.microsoft.com/office/drawing/2014/main" id="{B49D2D72-5900-4F30-930E-55E3065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somma zero</a:t>
            </a:r>
          </a:p>
        </p:txBody>
      </p:sp>
      <p:sp>
        <p:nvSpPr>
          <p:cNvPr id="24" name="clue-Massa">
            <a:extLst xmlns:a="http://schemas.openxmlformats.org/drawingml/2006/main">
              <a:ext uri="{FF2B5EF4-FFF2-40B4-BE49-F238E27FC236}">
                <a16:creationId xmlns:a16="http://schemas.microsoft.com/office/drawing/2014/main" id="{D60DAC56-5BBC-4518-ADBC-C355EC60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5" name="clue-band-Massa">
            <a:extLst xmlns:a="http://schemas.openxmlformats.org/drawingml/2006/main">
              <a:ext uri="{FF2B5EF4-FFF2-40B4-BE49-F238E27FC236}">
                <a16:creationId xmlns:a16="http://schemas.microsoft.com/office/drawing/2014/main" id="{A7DEAB15-5422-4583-BA73-D5B1DC18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26" name="clue-label-Massa">
            <a:extLst xmlns:a="http://schemas.openxmlformats.org/drawingml/2006/main">
              <a:ext uri="{FF2B5EF4-FFF2-40B4-BE49-F238E27FC236}">
                <a16:creationId xmlns:a16="http://schemas.microsoft.com/office/drawing/2014/main" id="{37DAE8D6-65C5-4274-AC99-19B845D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Massa</a:t>
            </a:r>
          </a:p>
        </p:txBody>
      </p:sp>
      <p:sp>
        <p:nvSpPr>
          <p:cNvPr id="27" name="clue-body-Massa">
            <a:extLst xmlns:a="http://schemas.openxmlformats.org/drawingml/2006/main">
              <a:ext uri="{FF2B5EF4-FFF2-40B4-BE49-F238E27FC236}">
                <a16:creationId xmlns:a16="http://schemas.microsoft.com/office/drawing/2014/main" id="{FB79FE21-08CE-4A02-810C-AE30F039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m &gt; 100 GeV</a:t>
            </a:r>
          </a:p>
        </p:txBody>
      </p:sp>
      <p:sp>
        <p:nvSpPr>
          <p:cNvPr id="28" name="clue-Grafico">
            <a:extLst xmlns:a="http://schemas.openxmlformats.org/drawingml/2006/main">
              <a:ext uri="{FF2B5EF4-FFF2-40B4-BE49-F238E27FC236}">
                <a16:creationId xmlns:a16="http://schemas.microsoft.com/office/drawing/2014/main" id="{B56CB068-9969-45FC-BF42-D99927F6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29" name="clue-band-Grafico">
            <a:extLst xmlns:a="http://schemas.openxmlformats.org/drawingml/2006/main">
              <a:ext uri="{FF2B5EF4-FFF2-40B4-BE49-F238E27FC236}">
                <a16:creationId xmlns:a16="http://schemas.microsoft.com/office/drawing/2014/main" id="{34726737-859B-4D5C-AB4A-5D8276DE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7381875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30" name="clue-label-Grafico">
            <a:extLst xmlns:a="http://schemas.openxmlformats.org/drawingml/2006/main">
              <a:ext uri="{FF2B5EF4-FFF2-40B4-BE49-F238E27FC236}">
                <a16:creationId xmlns:a16="http://schemas.microsoft.com/office/drawing/2014/main" id="{E7038E2A-C954-4308-9949-013FA9B0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4580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Grafico</a:t>
            </a:r>
          </a:p>
        </p:txBody>
      </p:sp>
      <p:sp>
        <p:nvSpPr>
          <p:cNvPr id="31" name="clue-body-Grafico">
            <a:extLst xmlns:a="http://schemas.openxmlformats.org/drawingml/2006/main">
              <a:ext uri="{FF2B5EF4-FFF2-40B4-BE49-F238E27FC236}">
                <a16:creationId xmlns:a16="http://schemas.microsoft.com/office/drawing/2014/main" id="{AE6AFF48-E24F-46C1-AA15-E57533C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7791450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istogramma delle masse</a:t>
            </a:r>
          </a:p>
        </p:txBody>
      </p:sp>
      <p:sp>
        <p:nvSpPr>
          <p:cNvPr id="32" name="experiment-box">
            <a:extLst xmlns:a="http://schemas.openxmlformats.org/drawingml/2006/main">
              <a:ext uri="{FF2B5EF4-FFF2-40B4-BE49-F238E27FC236}">
                <a16:creationId xmlns:a16="http://schemas.microsoft.com/office/drawing/2014/main" id="{502CF3C9-36C1-46E1-9AA6-1EBA43D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0"/>
            <a:ext cx="94773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3335">
            <a:solidFill>
              <a:srgbClr val="1F2041"/>
            </a:solidFill>
            <a:prstDash val="solid"/>
          </a:ln>
        </p:spPr>
      </p:sp>
      <p:sp>
        <p:nvSpPr>
          <p:cNvPr id="33" name="experiment-title">
            <a:extLst xmlns:a="http://schemas.openxmlformats.org/drawingml/2006/main">
              <a:ext uri="{FF2B5EF4-FFF2-40B4-BE49-F238E27FC236}">
                <a16:creationId xmlns:a16="http://schemas.microsoft.com/office/drawing/2014/main" id="{1A393FE7-935E-4291-A627-D16BF2CE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448800"/>
            <a:ext cx="890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041"/>
                </a:solidFill>
              </a:defRPr>
            </a:pPr>
            <a:r>
              <a:rPr sz="1800" b="1">
                <a:solidFill>
                  <a:srgbClr val="1F2041"/>
                </a:solidFill>
              </a:rPr>
              <a:t>Il banco di analisi</a:t>
            </a:r>
          </a:p>
        </p:txBody>
      </p:sp>
      <p:sp>
        <p:nvSpPr>
          <p:cNvPr id="34" name="clue-Dataset">
            <a:extLst xmlns:a="http://schemas.openxmlformats.org/drawingml/2006/main">
              <a:ext uri="{FF2B5EF4-FFF2-40B4-BE49-F238E27FC236}">
                <a16:creationId xmlns:a16="http://schemas.microsoft.com/office/drawing/2014/main" id="{47ADF28D-C468-4E1C-8B68-F54A7E2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906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35" name="clue-band-Dataset">
            <a:extLst xmlns:a="http://schemas.openxmlformats.org/drawingml/2006/main">
              <a:ext uri="{FF2B5EF4-FFF2-40B4-BE49-F238E27FC236}">
                <a16:creationId xmlns:a16="http://schemas.microsoft.com/office/drawing/2014/main" id="{59647A97-DEDC-4979-B6EF-942A8C5E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906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36" name="clue-label-Dataset">
            <a:extLst xmlns:a="http://schemas.openxmlformats.org/drawingml/2006/main">
              <a:ext uri="{FF2B5EF4-FFF2-40B4-BE49-F238E27FC236}">
                <a16:creationId xmlns:a16="http://schemas.microsoft.com/office/drawing/2014/main" id="{464AD2C3-14D3-4C6B-81BA-29A662FE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9982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Dataset</a:t>
            </a:r>
          </a:p>
        </p:txBody>
      </p:sp>
      <p:sp>
        <p:nvSpPr>
          <p:cNvPr id="37" name="clue-body-Dataset">
            <a:extLst xmlns:a="http://schemas.openxmlformats.org/drawingml/2006/main">
              <a:ext uri="{FF2B5EF4-FFF2-40B4-BE49-F238E27FC236}">
                <a16:creationId xmlns:a16="http://schemas.microsoft.com/office/drawing/2014/main" id="{71336D69-A41C-4A9F-A337-244FF64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03155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circa 50 eventi di collisione</a:t>
            </a:r>
          </a:p>
        </p:txBody>
      </p:sp>
      <p:sp>
        <p:nvSpPr>
          <p:cNvPr id="38" name="clue-Filtro">
            <a:extLst xmlns:a="http://schemas.openxmlformats.org/drawingml/2006/main">
              <a:ext uri="{FF2B5EF4-FFF2-40B4-BE49-F238E27FC236}">
                <a16:creationId xmlns:a16="http://schemas.microsoft.com/office/drawing/2014/main" id="{E88853F7-7F69-4B27-8CE2-4F6E525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9906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39" name="clue-band-Filtro">
            <a:extLst xmlns:a="http://schemas.openxmlformats.org/drawingml/2006/main">
              <a:ext uri="{FF2B5EF4-FFF2-40B4-BE49-F238E27FC236}">
                <a16:creationId xmlns:a16="http://schemas.microsoft.com/office/drawing/2014/main" id="{AB7C02D2-7F36-42F6-9670-A39CF0E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9906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40" name="clue-label-Filtro">
            <a:extLst xmlns:a="http://schemas.openxmlformats.org/drawingml/2006/main">
              <a:ext uri="{FF2B5EF4-FFF2-40B4-BE49-F238E27FC236}">
                <a16:creationId xmlns:a16="http://schemas.microsoft.com/office/drawing/2014/main" id="{57E951CF-4609-4521-8BD7-E08CE642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9982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F2041"/>
                </a:solidFill>
              </a:defRPr>
            </a:pPr>
            <a:r>
              <a:rPr sz="1013" b="1">
                <a:solidFill>
                  <a:srgbClr val="1F2041"/>
                </a:solidFill>
              </a:rPr>
              <a:t>Filtro</a:t>
            </a:r>
          </a:p>
        </p:txBody>
      </p:sp>
      <p:sp>
        <p:nvSpPr>
          <p:cNvPr id="41" name="clue-body-Filtro">
            <a:extLst xmlns:a="http://schemas.openxmlformats.org/drawingml/2006/main">
              <a:ext uri="{FF2B5EF4-FFF2-40B4-BE49-F238E27FC236}">
                <a16:creationId xmlns:a16="http://schemas.microsoft.com/office/drawing/2014/main" id="{176C9C51-620C-41E8-8FA8-A4382DDE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3155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somma cariche = 0; m &gt; 100 GeV</a:t>
            </a:r>
          </a:p>
        </p:txBody>
      </p:sp>
      <p:sp>
        <p:nvSpPr>
          <p:cNvPr id="42" name="clue-Canali">
            <a:extLst xmlns:a="http://schemas.openxmlformats.org/drawingml/2006/main">
              <a:ext uri="{FF2B5EF4-FFF2-40B4-BE49-F238E27FC236}">
                <a16:creationId xmlns:a16="http://schemas.microsoft.com/office/drawing/2014/main" id="{98E12C33-1D4D-49F5-9D4A-0AD4B5A5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906000"/>
            <a:ext cx="2000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9525">
            <a:solidFill>
              <a:srgbClr val="2B2E63"/>
            </a:solidFill>
            <a:prstDash val="solid"/>
          </a:ln>
        </p:spPr>
      </p:sp>
      <p:sp>
        <p:nvSpPr>
          <p:cNvPr id="43" name="clue-band-Canali">
            <a:extLst xmlns:a="http://schemas.openxmlformats.org/drawingml/2006/main">
              <a:ext uri="{FF2B5EF4-FFF2-40B4-BE49-F238E27FC236}">
                <a16:creationId xmlns:a16="http://schemas.microsoft.com/office/drawing/2014/main" id="{7C1E1370-99CF-446D-8538-0D98A8BE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9906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44" name="clue-label-Canali">
            <a:extLst xmlns:a="http://schemas.openxmlformats.org/drawingml/2006/main">
              <a:ext uri="{FF2B5EF4-FFF2-40B4-BE49-F238E27FC236}">
                <a16:creationId xmlns:a16="http://schemas.microsoft.com/office/drawing/2014/main" id="{4CD1B233-2E43-4E0A-A24B-B1D30EE8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9822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BEA"/>
                </a:solidFill>
              </a:defRPr>
            </a:pPr>
            <a:r>
              <a:rPr sz="1013" b="1">
                <a:solidFill>
                  <a:srgbClr val="FFFBEA"/>
                </a:solidFill>
              </a:rPr>
              <a:t>Canali</a:t>
            </a:r>
          </a:p>
        </p:txBody>
      </p:sp>
      <p:sp>
        <p:nvSpPr>
          <p:cNvPr id="45" name="clue-body-Canali">
            <a:extLst xmlns:a="http://schemas.openxmlformats.org/drawingml/2006/main">
              <a:ext uri="{FF2B5EF4-FFF2-40B4-BE49-F238E27FC236}">
                <a16:creationId xmlns:a16="http://schemas.microsoft.com/office/drawing/2014/main" id="{F35619D6-B48A-40BE-AA84-73A2F465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0315575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B2E63"/>
                </a:solidFill>
              </a:defRPr>
            </a:pPr>
            <a:r>
              <a:rPr sz="990" b="0">
                <a:solidFill>
                  <a:srgbClr val="2B2E63"/>
                </a:solidFill>
              </a:rPr>
              <a:t>modi di disintegrazione</a:t>
            </a:r>
          </a:p>
        </p:txBody>
      </p:sp>
      <p:sp>
        <p:nvSpPr>
          <p:cNvPr id="46" name="pill-4 mu">
            <a:extLst xmlns:a="http://schemas.openxmlformats.org/drawingml/2006/main">
              <a:ext uri="{FF2B5EF4-FFF2-40B4-BE49-F238E27FC236}">
                <a16:creationId xmlns:a16="http://schemas.microsoft.com/office/drawing/2014/main" id="{1DBA313B-9AAE-4DD5-8D00-A2F04687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123950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47" name="pill-text-4 mu">
            <a:extLst xmlns:a="http://schemas.openxmlformats.org/drawingml/2006/main">
              <a:ext uri="{FF2B5EF4-FFF2-40B4-BE49-F238E27FC236}">
                <a16:creationId xmlns:a16="http://schemas.microsoft.com/office/drawing/2014/main" id="{3FB6F8F0-A54D-4F2A-BB90-6FA76C41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13252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041"/>
                </a:solidFill>
              </a:defRPr>
            </a:pPr>
            <a:r>
              <a:rPr sz="1050" b="1">
                <a:solidFill>
                  <a:srgbClr val="1F2041"/>
                </a:solidFill>
              </a:rPr>
              <a:t>4 mu</a:t>
            </a:r>
          </a:p>
        </p:txBody>
      </p:sp>
      <p:sp>
        <p:nvSpPr>
          <p:cNvPr id="48" name="pill-2mu2e">
            <a:extLst xmlns:a="http://schemas.openxmlformats.org/drawingml/2006/main">
              <a:ext uri="{FF2B5EF4-FFF2-40B4-BE49-F238E27FC236}">
                <a16:creationId xmlns:a16="http://schemas.microsoft.com/office/drawing/2014/main" id="{DE58D101-CE09-4B43-AB3D-93A643F0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23950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49" name="pill-text-2mu2e">
            <a:extLst xmlns:a="http://schemas.openxmlformats.org/drawingml/2006/main">
              <a:ext uri="{FF2B5EF4-FFF2-40B4-BE49-F238E27FC236}">
                <a16:creationId xmlns:a16="http://schemas.microsoft.com/office/drawing/2014/main" id="{74E025B3-BE51-47A6-9E34-B6015C64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13252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041"/>
                </a:solidFill>
              </a:defRPr>
            </a:pPr>
            <a:r>
              <a:rPr sz="1050" b="1">
                <a:solidFill>
                  <a:srgbClr val="1F2041"/>
                </a:solidFill>
              </a:rPr>
              <a:t>2mu2e</a:t>
            </a:r>
          </a:p>
        </p:txBody>
      </p:sp>
      <p:sp>
        <p:nvSpPr>
          <p:cNvPr id="50" name="pill-4e">
            <a:extLst xmlns:a="http://schemas.openxmlformats.org/drawingml/2006/main">
              <a:ext uri="{FF2B5EF4-FFF2-40B4-BE49-F238E27FC236}">
                <a16:creationId xmlns:a16="http://schemas.microsoft.com/office/drawing/2014/main" id="{AC1E8C92-414E-4BB5-A981-252865E6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123950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1" name="pill-text-4e">
            <a:extLst xmlns:a="http://schemas.openxmlformats.org/drawingml/2006/main">
              <a:ext uri="{FF2B5EF4-FFF2-40B4-BE49-F238E27FC236}">
                <a16:creationId xmlns:a16="http://schemas.microsoft.com/office/drawing/2014/main" id="{370B4F34-D858-4297-9F2E-E86DE20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13252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BEA"/>
                </a:solidFill>
              </a:defRPr>
            </a:pPr>
            <a:r>
              <a:rPr sz="1050" b="1">
                <a:solidFill>
                  <a:srgbClr val="FFFBEA"/>
                </a:solidFill>
              </a:rPr>
              <a:t>4e</a:t>
            </a:r>
          </a:p>
        </p:txBody>
      </p:sp>
      <p:sp>
        <p:nvSpPr>
          <p:cNvPr id="52" name="pill-2 fotoni">
            <a:extLst xmlns:a="http://schemas.openxmlformats.org/drawingml/2006/main">
              <a:ext uri="{FF2B5EF4-FFF2-40B4-BE49-F238E27FC236}">
                <a16:creationId xmlns:a16="http://schemas.microsoft.com/office/drawing/2014/main" id="{57AF8873-725D-4E13-9D39-6FCC4DB6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239500"/>
            <a:ext cx="1143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53" name="pill-text-2 fotoni">
            <a:extLst xmlns:a="http://schemas.openxmlformats.org/drawingml/2006/main">
              <a:ext uri="{FF2B5EF4-FFF2-40B4-BE49-F238E27FC236}">
                <a16:creationId xmlns:a16="http://schemas.microsoft.com/office/drawing/2014/main" id="{C37BE6F1-B1E6-465E-ACA8-1D56A0AE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3252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BEA"/>
                </a:solidFill>
              </a:defRPr>
            </a:pPr>
            <a:r>
              <a:rPr sz="1050" b="1">
                <a:solidFill>
                  <a:srgbClr val="FFFBEA"/>
                </a:solidFill>
              </a:rPr>
              <a:t>2 fotoni</a:t>
            </a:r>
          </a:p>
        </p:txBody>
      </p:sp>
      <p:sp>
        <p:nvSpPr>
          <p:cNvPr id="54" name="flow-arrow">
            <a:extLst xmlns:a="http://schemas.openxmlformats.org/drawingml/2006/main">
              <a:ext uri="{FF2B5EF4-FFF2-40B4-BE49-F238E27FC236}">
                <a16:creationId xmlns:a16="http://schemas.microsoft.com/office/drawing/2014/main" id="{EE900EDB-5882-4FB4-9E9E-726B3ABA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287125"/>
            <a:ext cx="619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55" name="histogram">
            <a:extLst xmlns:a="http://schemas.openxmlformats.org/drawingml/2006/main">
              <a:ext uri="{FF2B5EF4-FFF2-40B4-BE49-F238E27FC236}">
                <a16:creationId xmlns:a16="http://schemas.microsoft.com/office/drawing/2014/main" id="{84B2BE27-64C0-44AC-B609-5BC35DF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0810875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56" name="x-axis">
            <a:extLst xmlns:a="http://schemas.openxmlformats.org/drawingml/2006/main">
              <a:ext uri="{FF2B5EF4-FFF2-40B4-BE49-F238E27FC236}">
                <a16:creationId xmlns:a16="http://schemas.microsoft.com/office/drawing/2014/main" id="{8D733E14-F0C6-4785-BBDE-555616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649075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57" name="y-axis">
            <a:extLst xmlns:a="http://schemas.openxmlformats.org/drawingml/2006/main">
              <a:ext uri="{FF2B5EF4-FFF2-40B4-BE49-F238E27FC236}">
                <a16:creationId xmlns:a16="http://schemas.microsoft.com/office/drawing/2014/main" id="{56EECBD2-DB6C-4F78-8145-E7BFC027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11156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58" name="bar-0">
            <a:extLst xmlns:a="http://schemas.openxmlformats.org/drawingml/2006/main">
              <a:ext uri="{FF2B5EF4-FFF2-40B4-BE49-F238E27FC236}">
                <a16:creationId xmlns:a16="http://schemas.microsoft.com/office/drawing/2014/main" id="{9E6FCB2B-BE08-4AFE-8CC2-88D9077A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471" y="11608858"/>
            <a:ext cx="162877" cy="402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59" name="bar-1">
            <a:extLst xmlns:a="http://schemas.openxmlformats.org/drawingml/2006/main">
              <a:ext uri="{FF2B5EF4-FFF2-40B4-BE49-F238E27FC236}">
                <a16:creationId xmlns:a16="http://schemas.microsoft.com/office/drawing/2014/main" id="{80F6E017-9752-4263-AE91-A213DF20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689" y="11568642"/>
            <a:ext cx="162877" cy="80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60" name="bar-2">
            <a:extLst xmlns:a="http://schemas.openxmlformats.org/drawingml/2006/main">
              <a:ext uri="{FF2B5EF4-FFF2-40B4-BE49-F238E27FC236}">
                <a16:creationId xmlns:a16="http://schemas.microsoft.com/office/drawing/2014/main" id="{DDF51D03-1A18-40C8-BFA7-222B70D9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7908" y="11568642"/>
            <a:ext cx="162877" cy="80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1" name="bar-3">
            <a:extLst xmlns:a="http://schemas.openxmlformats.org/drawingml/2006/main">
              <a:ext uri="{FF2B5EF4-FFF2-40B4-BE49-F238E27FC236}">
                <a16:creationId xmlns:a16="http://schemas.microsoft.com/office/drawing/2014/main" id="{878F3EE9-CB49-416A-8C28-6EB8AEFF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127" y="11488208"/>
            <a:ext cx="162877" cy="1608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62" name="bar-4">
            <a:extLst xmlns:a="http://schemas.openxmlformats.org/drawingml/2006/main">
              <a:ext uri="{FF2B5EF4-FFF2-40B4-BE49-F238E27FC236}">
                <a16:creationId xmlns:a16="http://schemas.microsoft.com/office/drawing/2014/main" id="{4A0BFBCF-1DF1-4A3E-A804-C15B3C1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346" y="11287125"/>
            <a:ext cx="162877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3" name="bar-5">
            <a:extLst xmlns:a="http://schemas.openxmlformats.org/drawingml/2006/main">
              <a:ext uri="{FF2B5EF4-FFF2-40B4-BE49-F238E27FC236}">
                <a16:creationId xmlns:a16="http://schemas.microsoft.com/office/drawing/2014/main" id="{DCFEBBA5-C8E2-46CD-A9C6-BAAF4C2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564" y="11447992"/>
            <a:ext cx="162877" cy="201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48"/>
          </a:solidFill>
          <a:ln xmlns:a="http://schemas.openxmlformats.org/drawingml/2006/main" w="0">
            <a:solidFill>
              <a:srgbClr val="FFE548"/>
            </a:solidFill>
            <a:prstDash val="solid"/>
          </a:ln>
        </p:spPr>
      </p:sp>
      <p:sp>
        <p:nvSpPr>
          <p:cNvPr id="64" name="bar-6">
            <a:extLst xmlns:a="http://schemas.openxmlformats.org/drawingml/2006/main">
              <a:ext uri="{FF2B5EF4-FFF2-40B4-BE49-F238E27FC236}">
                <a16:creationId xmlns:a16="http://schemas.microsoft.com/office/drawing/2014/main" id="{48D6B2CC-C547-4540-84A9-D9CE5E61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783" y="11568642"/>
            <a:ext cx="162877" cy="804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E63"/>
          </a:solidFill>
          <a:ln xmlns:a="http://schemas.openxmlformats.org/drawingml/2006/main" w="0">
            <a:solidFill>
              <a:srgbClr val="2B2E63"/>
            </a:solidFill>
            <a:prstDash val="solid"/>
          </a:ln>
        </p:spPr>
      </p:sp>
      <p:sp>
        <p:nvSpPr>
          <p:cNvPr id="65" name="bar-7">
            <a:extLst xmlns:a="http://schemas.openxmlformats.org/drawingml/2006/main">
              <a:ext uri="{FF2B5EF4-FFF2-40B4-BE49-F238E27FC236}">
                <a16:creationId xmlns:a16="http://schemas.microsoft.com/office/drawing/2014/main" id="{B8A53B00-C7E0-4857-9F16-2F53B80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9002" y="11608858"/>
            <a:ext cx="162877" cy="402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00"/>
          </a:solidFill>
          <a:ln xmlns:a="http://schemas.openxmlformats.org/drawingml/2006/main" w="0">
            <a:solidFill>
              <a:srgbClr val="FFB300"/>
            </a:solidFill>
            <a:prstDash val="solid"/>
          </a:ln>
        </p:spPr>
      </p:sp>
      <p:sp>
        <p:nvSpPr>
          <p:cNvPr id="66" name="peak-line">
            <a:extLst xmlns:a="http://schemas.openxmlformats.org/drawingml/2006/main">
              <a:ext uri="{FF2B5EF4-FFF2-40B4-BE49-F238E27FC236}">
                <a16:creationId xmlns:a16="http://schemas.microsoft.com/office/drawing/2014/main" id="{1B9A7375-3AD6-4ADF-A112-BAA118BD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114" y="11115675"/>
            <a:ext cx="285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041"/>
          </a:solidFill>
          <a:ln xmlns:a="http://schemas.openxmlformats.org/drawingml/2006/main" w="0">
            <a:solidFill>
              <a:srgbClr val="1F2041"/>
            </a:solidFill>
            <a:prstDash val="solid"/>
          </a:ln>
        </p:spPr>
      </p:sp>
      <p:sp>
        <p:nvSpPr>
          <p:cNvPr id="67" name="peak-label">
            <a:extLst xmlns:a="http://schemas.openxmlformats.org/drawingml/2006/main">
              <a:ext uri="{FF2B5EF4-FFF2-40B4-BE49-F238E27FC236}">
                <a16:creationId xmlns:a16="http://schemas.microsoft.com/office/drawing/2014/main" id="{B11760B2-AF03-44FF-B065-F0F7043F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098232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2041"/>
                </a:solidFill>
              </a:defRPr>
            </a:pPr>
            <a:r>
              <a:rPr sz="975" b="1">
                <a:solidFill>
                  <a:srgbClr val="1F2041"/>
                </a:solidFill>
              </a:rPr>
              <a:t>~125 GeV</a:t>
            </a:r>
          </a:p>
        </p:txBody>
      </p:sp>
      <p:sp>
        <p:nvSpPr>
          <p:cNvPr id="68" name="x-label">
            <a:extLst xmlns:a="http://schemas.openxmlformats.org/drawingml/2006/main">
              <a:ext uri="{FF2B5EF4-FFF2-40B4-BE49-F238E27FC236}">
                <a16:creationId xmlns:a16="http://schemas.microsoft.com/office/drawing/2014/main" id="{58B1DC32-18EC-49EB-86DF-0655E779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7824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B2E63"/>
                </a:solidFill>
              </a:defRPr>
            </a:pPr>
            <a:r>
              <a:rPr sz="825" b="0">
                <a:solidFill>
                  <a:srgbClr val="2B2E63"/>
                </a:solidFill>
              </a:rPr>
              <a:t>massa ricostruita</a:t>
            </a:r>
          </a:p>
        </p:txBody>
      </p:sp>
      <p:sp>
        <p:nvSpPr>
          <p:cNvPr id="69" name="experiment-caption">
            <a:extLst xmlns:a="http://schemas.openxmlformats.org/drawingml/2006/main">
              <a:ext uri="{FF2B5EF4-FFF2-40B4-BE49-F238E27FC236}">
                <a16:creationId xmlns:a16="http://schemas.microsoft.com/office/drawing/2014/main" id="{041D3386-B487-421C-80FB-533EECF0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1734800"/>
            <a:ext cx="8677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B2E63"/>
                </a:solidFill>
              </a:defRPr>
            </a:pPr>
            <a:r>
              <a:rPr sz="1125" b="0">
                <a:solidFill>
                  <a:srgbClr val="2B2E63"/>
                </a:solidFill>
              </a:rPr>
              <a:t>La particella scomparsa puo lasciare tracce diverse: il segnale appare se piu canali puntano alla stessa massa.</a:t>
            </a:r>
          </a:p>
        </p:txBody>
      </p:sp>
      <p:sp>
        <p:nvSpPr>
          <p:cNvPr id="70" name="expected-box">
            <a:extLst xmlns:a="http://schemas.openxmlformats.org/drawingml/2006/main">
              <a:ext uri="{FF2B5EF4-FFF2-40B4-BE49-F238E27FC236}">
                <a16:creationId xmlns:a16="http://schemas.microsoft.com/office/drawing/2014/main" id="{FBF88092-6DE6-4DD5-ADAA-658DA795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0"/>
            <a:ext cx="5429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BEA"/>
          </a:solidFill>
          <a:ln xmlns:a="http://schemas.openxmlformats.org/drawingml/2006/main" w="11430">
            <a:solidFill>
              <a:srgbClr val="2B2E63"/>
            </a:solidFill>
            <a:prstDash val="solid"/>
          </a:ln>
        </p:spPr>
      </p:sp>
      <p:sp>
        <p:nvSpPr>
          <p:cNvPr id="71" name="expected-title">
            <a:extLst xmlns:a="http://schemas.openxmlformats.org/drawingml/2006/main">
              <a:ext uri="{FF2B5EF4-FFF2-40B4-BE49-F238E27FC236}">
                <a16:creationId xmlns:a16="http://schemas.microsoft.com/office/drawing/2014/main" id="{545E318A-EE7C-4B48-8641-D536107A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954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041"/>
                </a:solidFill>
              </a:defRPr>
            </a:pPr>
            <a:r>
              <a:rPr sz="1725" b="1">
                <a:solidFill>
                  <a:srgbClr val="1F2041"/>
                </a:solidFill>
              </a:rPr>
              <a:t>Risultato atteso</a:t>
            </a:r>
          </a:p>
        </p:txBody>
      </p:sp>
      <p:sp>
        <p:nvSpPr>
          <p:cNvPr id="72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E5D811BB-7B67-4B25-B803-53BE6F76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4112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B2E63"/>
                </a:solidFill>
              </a:defRPr>
            </a:pPr>
            <a:r>
              <a:rPr sz="1200" b="0">
                <a:solidFill>
                  <a:srgbClr val="2B2E63"/>
                </a:solidFill>
              </a:rPr>
              <a:t>Dopo aver sommato le cariche e selezionato m &gt; 100 GeV, piu canali si accumulano vicino a circa 125 GeV.</a:t>
            </a:r>
          </a:p>
        </p:txBody>
      </p:sp>
      <p:sp>
        <p:nvSpPr>
          <p:cNvPr id="73" name="message-box">
            <a:extLst xmlns:a="http://schemas.openxmlformats.org/drawingml/2006/main">
              <a:ext uri="{FF2B5EF4-FFF2-40B4-BE49-F238E27FC236}">
                <a16:creationId xmlns:a16="http://schemas.microsoft.com/office/drawing/2014/main" id="{B090833E-4AED-41F7-AD7F-4C1E21F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668250"/>
            <a:ext cx="370522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F2041"/>
          </a:solidFill>
          <a:ln xmlns:a="http://schemas.openxmlformats.org/drawingml/2006/main" w="11430">
            <a:solidFill>
              <a:srgbClr val="1F2041"/>
            </a:solidFill>
            <a:prstDash val="solid"/>
          </a:ln>
        </p:spPr>
      </p:sp>
      <p:sp>
        <p:nvSpPr>
          <p:cNvPr id="74" name="message-title">
            <a:extLst xmlns:a="http://schemas.openxmlformats.org/drawingml/2006/main">
              <a:ext uri="{FF2B5EF4-FFF2-40B4-BE49-F238E27FC236}">
                <a16:creationId xmlns:a16="http://schemas.microsoft.com/office/drawing/2014/main" id="{1BA6E7DA-3E18-4F13-B839-971F67ED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954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E548"/>
                </a:solidFill>
              </a:defRPr>
            </a:pPr>
            <a:r>
              <a:rPr sz="1725" b="1">
                <a:solidFill>
                  <a:srgbClr val="FFE548"/>
                </a:solidFill>
              </a:rPr>
              <a:t>Messaggio chiave</a:t>
            </a:r>
          </a:p>
        </p:txBody>
      </p:sp>
      <p:sp>
        <p:nvSpPr>
          <p:cNvPr id="75" name="message-body">
            <a:extLst xmlns:a="http://schemas.openxmlformats.org/drawingml/2006/main">
              <a:ext uri="{FF2B5EF4-FFF2-40B4-BE49-F238E27FC236}">
                <a16:creationId xmlns:a16="http://schemas.microsoft.com/office/drawing/2014/main" id="{43B10A4E-C606-48B1-82FE-07C2AF31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34112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BEA"/>
                </a:solidFill>
              </a:defRPr>
            </a:pPr>
            <a:r>
              <a:rPr sz="1200" b="0">
                <a:solidFill>
                  <a:srgbClr val="FFFBEA"/>
                </a:solidFill>
              </a:rPr>
              <a:t>La traccia di una particella invisibile puo emergere come picco comune in piu canali.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dda06592945ff"/>
          <a:stretch xmlns:a="http://schemas.openxmlformats.org/drawingml/2006/main"/>
        </p:blipFill>
        <p:spPr>
          <a:xfrm xmlns:a="http://schemas.openxmlformats.org/drawingml/2006/main">
            <a:off x="609600" y="14443092"/>
            <a:ext cx="1809750" cy="403190"/>
          </a:xfrm>
          <a:prstGeom xmlns:a="http://schemas.openxmlformats.org/drawingml/2006/main" prst="rect">
            <a:avLst/>
          </a:prstGeom>
        </p:spPr>
      </p:pic>
      <p:sp>
        <p:nvSpPr>
          <p:cNvPr id="77" name="eu-footer">
            <a:extLst xmlns:a="http://schemas.openxmlformats.org/drawingml/2006/main">
              <a:ext uri="{FF2B5EF4-FFF2-40B4-BE49-F238E27FC236}">
                <a16:creationId xmlns:a16="http://schemas.microsoft.com/office/drawing/2014/main" id="{8F624BEE-258D-422E-A01C-DDA96939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5732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B2E63"/>
                </a:solidFill>
              </a:defRPr>
            </a:pPr>
            <a:r>
              <a:rPr sz="863" b="0">
                <a:solidFill>
                  <a:srgbClr val="2B2E63"/>
                </a:solidFill>
              </a:rPr>
              <a:t>ERNEST is a European Researchers' Night project funded by the European Commission under the Marie Sklodowska-Curie Actions. GA 101305138</a:t>
            </a:r>
          </a:p>
        </p:txBody>
      </p:sp>
    </p:spTree>
    <p:extLst>
      <p:ext uri="{BB962C8B-B14F-4D97-AF65-F5344CB8AC3E}">
        <p14:creationId xmlns:p14="http://schemas.microsoft.com/office/powerpoint/2010/main" val="237406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2026-08-10T19:51:56.3100000Z</dcterms:created>
  <dcterms:modified xsi:type="dcterms:W3CDTF">2026-08-10T19:51:56.3100000Z</dcterms:modified>
</coreProperties>
</file>